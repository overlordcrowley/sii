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4e2777ae34544c9" /><Relationship Type="http://schemas.openxmlformats.org/officeDocument/2006/relationships/extended-properties" Target="/docProps/app.xml" Id="Rcc06a7a5a6254f43" /><Relationship Type="http://schemas.openxmlformats.org/officeDocument/2006/relationships/officeDocument" Target="/ppt/presentation.xml" Id="R45e9dc83c9ed44f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490518e714a4ac4"/>
  </p:sldMasterIdLst>
  <p:notesMasterIdLst>
    <p:notesMasterId xmlns:r="http://schemas.openxmlformats.org/officeDocument/2006/relationships" r:id="R0df8b0bd0cfd4eb6"/>
  </p:notesMasterIdLst>
  <p:sldIdLst>
    <p:sldId xmlns:r="http://schemas.openxmlformats.org/officeDocument/2006/relationships" id="256" r:id="Re0783b47b5d147c5"/>
    <p:sldId xmlns:r="http://schemas.openxmlformats.org/officeDocument/2006/relationships" id="257" r:id="Ra63b65ff1afc42c8"/>
    <p:sldId xmlns:r="http://schemas.openxmlformats.org/officeDocument/2006/relationships" id="258" r:id="R53bb1ecfe3d644d5"/>
    <p:sldId xmlns:r="http://schemas.openxmlformats.org/officeDocument/2006/relationships" id="259" r:id="R6dddc7d1abc84e2a"/>
    <p:sldId xmlns:r="http://schemas.openxmlformats.org/officeDocument/2006/relationships" id="260" r:id="Rebf0ab259cad4196"/>
    <p:sldId xmlns:r="http://schemas.openxmlformats.org/officeDocument/2006/relationships" id="261" r:id="R05c91d0b09a3497b"/>
    <p:sldId xmlns:r="http://schemas.openxmlformats.org/officeDocument/2006/relationships" id="262" r:id="R43e46435cbf84324"/>
    <p:sldId xmlns:r="http://schemas.openxmlformats.org/officeDocument/2006/relationships" id="263" r:id="Ree9efe81a0a244bd"/>
    <p:sldId xmlns:r="http://schemas.openxmlformats.org/officeDocument/2006/relationships" id="264" r:id="R183b8624e0d94271"/>
    <p:sldId xmlns:r="http://schemas.openxmlformats.org/officeDocument/2006/relationships" id="265" r:id="Re3a08432dd9f41e4"/>
    <p:sldId xmlns:r="http://schemas.openxmlformats.org/officeDocument/2006/relationships" id="266" r:id="R438bfb481a0b46fb"/>
    <p:sldId xmlns:r="http://schemas.openxmlformats.org/officeDocument/2006/relationships" id="267" r:id="R01e1bc2383d24827"/>
    <p:sldId xmlns:r="http://schemas.openxmlformats.org/officeDocument/2006/relationships" id="268" r:id="R47164b4efcaf4f8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2fa881554334688" /><Relationship Type="http://schemas.openxmlformats.org/officeDocument/2006/relationships/slideMaster" Target="/ppt/slideMasters/slideMaster1.xml" Id="R2490518e714a4ac4" /><Relationship Type="http://schemas.openxmlformats.org/officeDocument/2006/relationships/notesMaster" Target="/ppt/notesMasters/notesMaster1.xml" Id="R0df8b0bd0cfd4eb6" /><Relationship Type="http://schemas.openxmlformats.org/officeDocument/2006/relationships/presProps" Target="/ppt/presProps.xml" Id="R066f0bd0bd4b4247" /><Relationship Type="http://schemas.openxmlformats.org/officeDocument/2006/relationships/tableStyles" Target="/ppt/tableStyles.xml" Id="Rb90e426a6c87418e" /><Relationship Type="http://schemas.openxmlformats.org/officeDocument/2006/relationships/slide" Target="/ppt/slides/slide1.xml" Id="Re0783b47b5d147c5" /><Relationship Type="http://schemas.openxmlformats.org/officeDocument/2006/relationships/slide" Target="/ppt/slides/slide2.xml" Id="Ra63b65ff1afc42c8" /><Relationship Type="http://schemas.openxmlformats.org/officeDocument/2006/relationships/slide" Target="/ppt/slides/slide3.xml" Id="R53bb1ecfe3d644d5" /><Relationship Type="http://schemas.openxmlformats.org/officeDocument/2006/relationships/slide" Target="/ppt/slides/slide4.xml" Id="R6dddc7d1abc84e2a" /><Relationship Type="http://schemas.openxmlformats.org/officeDocument/2006/relationships/slide" Target="/ppt/slides/slide5.xml" Id="Rebf0ab259cad4196" /><Relationship Type="http://schemas.openxmlformats.org/officeDocument/2006/relationships/slide" Target="/ppt/slides/slide6.xml" Id="R05c91d0b09a3497b" /><Relationship Type="http://schemas.openxmlformats.org/officeDocument/2006/relationships/slide" Target="/ppt/slides/slide7.xml" Id="R43e46435cbf84324" /><Relationship Type="http://schemas.openxmlformats.org/officeDocument/2006/relationships/slide" Target="/ppt/slides/slide8.xml" Id="Ree9efe81a0a244bd" /><Relationship Type="http://schemas.openxmlformats.org/officeDocument/2006/relationships/slide" Target="/ppt/slides/slide9.xml" Id="R183b8624e0d94271" /><Relationship Type="http://schemas.openxmlformats.org/officeDocument/2006/relationships/slide" Target="/ppt/slides/slide10.xml" Id="Re3a08432dd9f41e4" /><Relationship Type="http://schemas.openxmlformats.org/officeDocument/2006/relationships/slide" Target="/ppt/slides/slide11.xml" Id="R438bfb481a0b46fb" /><Relationship Type="http://schemas.openxmlformats.org/officeDocument/2006/relationships/slide" Target="/ppt/slides/slide12.xml" Id="R01e1bc2383d24827" /><Relationship Type="http://schemas.openxmlformats.org/officeDocument/2006/relationships/slide" Target="/ppt/slides/slide13.xml" Id="R47164b4efcaf4f8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b3a2beeee3347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5e864abffaf48ad" /><Relationship Type="http://schemas.openxmlformats.org/officeDocument/2006/relationships/notesMaster" Target="/ppt/notesMasters/notesMaster1.xml" Id="R977f766ff074449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05d0370a9084a7c" /><Relationship Type="http://schemas.openxmlformats.org/officeDocument/2006/relationships/notesMaster" Target="/ppt/notesMasters/notesMaster1.xml" Id="R993d31c0c2cb4cd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c5339227a2b4535" /><Relationship Type="http://schemas.openxmlformats.org/officeDocument/2006/relationships/notesMaster" Target="/ppt/notesMasters/notesMaster1.xml" Id="R6a78edb98d8c487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cd93ab44832423a" /><Relationship Type="http://schemas.openxmlformats.org/officeDocument/2006/relationships/notesMaster" Target="/ppt/notesMasters/notesMaster1.xml" Id="Rb71ba8202ffe41f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de19ec44bc84ada" /><Relationship Type="http://schemas.openxmlformats.org/officeDocument/2006/relationships/notesMaster" Target="/ppt/notesMasters/notesMaster1.xml" Id="R1ba55f50e0d041d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1b97813591f4cc8" /><Relationship Type="http://schemas.openxmlformats.org/officeDocument/2006/relationships/notesMaster" Target="/ppt/notesMasters/notesMaster1.xml" Id="R26d396fe09624b0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19096fe590b4d53" /><Relationship Type="http://schemas.openxmlformats.org/officeDocument/2006/relationships/notesMaster" Target="/ppt/notesMasters/notesMaster1.xml" Id="R2979f2b5f5184bb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690aa61f3b34abc" /><Relationship Type="http://schemas.openxmlformats.org/officeDocument/2006/relationships/notesMaster" Target="/ppt/notesMasters/notesMaster1.xml" Id="R833ed346e7e9487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cfd36c4f480409b" /><Relationship Type="http://schemas.openxmlformats.org/officeDocument/2006/relationships/notesMaster" Target="/ppt/notesMasters/notesMaster1.xml" Id="R7eaea629e39544b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796a9916ffd423b" /><Relationship Type="http://schemas.openxmlformats.org/officeDocument/2006/relationships/notesMaster" Target="/ppt/notesMasters/notesMaster1.xml" Id="Rb60d8d060471475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4a725b2663948f8" /><Relationship Type="http://schemas.openxmlformats.org/officeDocument/2006/relationships/notesMaster" Target="/ppt/notesMasters/notesMaster1.xml" Id="R8f98510fa7f54b8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a81fafd8f0147ff" /><Relationship Type="http://schemas.openxmlformats.org/officeDocument/2006/relationships/notesMaster" Target="/ppt/notesMasters/notesMaster1.xml" Id="Rfc092f7965014fb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baa9bd173544fce" /><Relationship Type="http://schemas.openxmlformats.org/officeDocument/2006/relationships/notesMaster" Target="/ppt/notesMasters/notesMaster1.xml" Id="R3341c7e3e45a491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Тема из списка семестровых проектов в Лабораторные_работы_СИИ.docx. Представьте своё имя и группу устно или добавьте их перед защитой.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Программа формирует предварительные гипотезы. Словарь фраз ограничен. Модели обучены на синтетическом датасете.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Модули pc_assistant/assistant.py, expert.py, production.py, logic.py, frames.py, network.py, ml.py. Общая база data/knowledge.json.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data/knowledge.json. В базе 18 симптомов, 7 гипотез, 23 правила, 15 фреймов, 22 узла и 22 ребра.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R02: power_on AND NOT screen_on =&gt; display_problem. R03: display_problem AND beeps =&gt; ram_failure. R04: display_problem AND NOT beeps =&gt; display_failure. NOT неизвестного остаётся неизвестным.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Пример реального сценария demo: power_on=true, screen_on=false, beeps=true. R02, R03, R19. Объяснение раскрывает промежуточную цель до исходных фактов.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device -&gt; computer -&gt; desktop -&gt; office_pc. Слоты ОС наследуются, объём RAM переопределён в экземпляре. Модель содержит также laptop и student_laptop. Направление схемы от родителя к потомку.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data/knowledge.json, раздел network. 22 узла и 22 ребра. Пример направленного пути disk_noise -&gt; disk_failure -&gt; storage -&gt; computer. Алгоритм BFS возвращает кратчайший путь по числу рёбер.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data/dataset.csv и data/dataset.metadata.json. 1260 синтетических строк, 180 на класс. Групповой split по sha256(seed:vector) предотвращает попадание одинаковых векторов в разные части.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models/metrics.json. Accuracy и macro F1 рассчитаны на 244 тестовых примерах. Majority baseline использует самый частый класс train. Разница между Bayes и MLP не доказывает превосходство на реальных данных.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Реализация NeuralNetwork в pc_assistant/ml.py. Масштабирование входа [-1,1], tanh скрытого слоя, softmax выходов. Ручные градиенты кросс-энтропии, NumPy. 600 эпох, шаг 0.18, минимальная validation loss на эпохе 591.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Сценарии и фактические ответы: docs/DEMO_RESULTS.json. python -m pc_assistant demo. Для неполного запроса необходимо уточнить beeps, прежде чем выбрать между памятью и изображением.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Проверки: python -m unittest discover -s tests -v. 31 тест. Репозиторий проекта: https://github.com/OverlordCrowley/SII. История этапов сохранена. Личные данные и защита заполняются и выполняются студентом.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2c86616ec94fc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ee26c6d748540de" /><Relationship Type="http://schemas.openxmlformats.org/officeDocument/2006/relationships/slideLayout" Target="/ppt/slideLayouts/slideLayout1.xml" Id="Rb37ad47ae8684c6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7ad47ae8684c6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8b9c62c9cb4231" /><Relationship Type="http://schemas.openxmlformats.org/officeDocument/2006/relationships/notesSlide" Target="/ppt/notesSlides/notesSlide1.xml" Id="Rf398edeb1d22402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6368d06f4e4908" /><Relationship Type="http://schemas.openxmlformats.org/officeDocument/2006/relationships/notesSlide" Target="/ppt/notesSlides/notesSlide2.xml" Id="Rc7156796d59f49b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782bac36fd4549" /><Relationship Type="http://schemas.openxmlformats.org/officeDocument/2006/relationships/notesSlide" Target="/ppt/notesSlides/notesSlide3.xml" Id="Rcff472f58b8a404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92dd5498384769" /><Relationship Type="http://schemas.openxmlformats.org/officeDocument/2006/relationships/notesSlide" Target="/ppt/notesSlides/notesSlide4.xml" Id="R44c5faf27ff049a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160d303fb141fa" /><Relationship Type="http://schemas.openxmlformats.org/officeDocument/2006/relationships/notesSlide" Target="/ppt/notesSlides/notesSlide5.xml" Id="R80dbbc3c2dba447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30fbc3fd774a78" /><Relationship Type="http://schemas.openxmlformats.org/officeDocument/2006/relationships/notesSlide" Target="/ppt/notesSlides/notesSlide6.xml" Id="R56f9e2eb793d475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e8056a193c45c0" /><Relationship Type="http://schemas.openxmlformats.org/officeDocument/2006/relationships/notesSlide" Target="/ppt/notesSlides/notesSlide7.xml" Id="R6d4b106f43024a3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5217ceb23e4454" /><Relationship Type="http://schemas.openxmlformats.org/officeDocument/2006/relationships/notesSlide" Target="/ppt/notesSlides/notesSlide8.xml" Id="R03399765b2794fc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77c7b1011847d1" /><Relationship Type="http://schemas.openxmlformats.org/officeDocument/2006/relationships/chart" Target="/ppt/slides/charts/chart1.xml" Id="Rb71a9bb1f1144d2b" /><Relationship Type="http://schemas.openxmlformats.org/officeDocument/2006/relationships/notesSlide" Target="/ppt/notesSlides/notesSlide9.xml" Id="R5b497b1567084b4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e5b69829744bd9" /><Relationship Type="http://schemas.openxmlformats.org/officeDocument/2006/relationships/notesSlide" Target="/ppt/notesSlides/notesSlide10.xml" Id="Ra20f8c2173bf450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71d8ed81494cbd" /><Relationship Type="http://schemas.openxmlformats.org/officeDocument/2006/relationships/notesSlide" Target="/ppt/notesSlides/notesSlide11.xml" Id="R79aacc8d62e74e1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c9d2c4d72d43c4" /><Relationship Type="http://schemas.openxmlformats.org/officeDocument/2006/relationships/notesSlide" Target="/ppt/notesSlides/notesSlide12.xml" Id="R0b70f84d58864bd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13e63d20204871" /><Relationship Type="http://schemas.openxmlformats.org/officeDocument/2006/relationships/notesSlide" Target="/ppt/notesSlides/notesSlide13.xml" Id="Rf0fba1d3a7f54b51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Записей</c:v>
          </c:tx>
          <c:spPr>
            <a:solidFill xmlns:a="http://schemas.openxmlformats.org/drawingml/2006/main">
              <a:srgbClr val="087F8C"/>
            </a:solidFill>
          </c:spPr>
          <c:cat>
            <c:strRef>
              <c:f>'Chart Data'!$A$2:$A$4</c:f>
              <c:strCache>
                <c:ptCount val="3"/>
                <c:pt idx="0">
                  <c:v>Train</c:v>
                </c:pt>
                <c:pt idx="1">
                  <c:v>Validation</c:v>
                </c:pt>
                <c:pt idx="2">
                  <c:v>Test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840</c:v>
                </c:pt>
                <c:pt idx="1">
                  <c:v>176</c:v>
                </c:pt>
                <c:pt idx="2">
                  <c:v>244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00"/>
          <c:min val="0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C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805AC9-9653-4DA9-89E9-D8F7178F9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9906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ИИ-помощник</a:t>
            </a:r>
          </a:p>
          <a:p xmlns:a="http://schemas.openxmlformats.org/drawingml/2006/main">
            <a: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 диагностике</a:t>
            </a:r>
          </a:p>
          <a:p xmlns:a="http://schemas.openxmlformats.org/drawingml/2006/main">
            <a: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компьютера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1DFFA8-7B67-45D2-9C52-40E00240C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29350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C8D9E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D9E1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DE307C-4B08-4E6E-A6C4-BE165AA1F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C8D9E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8D9E1"/>
                </a:solidFill>
                <a:latin typeface="Arial"/>
                <a:ea typeface="Arial"/>
                <a:cs typeface="Arial"/>
              </a:rPr>
              <a:t>Семестровый проект по системам искусственного интеллекта</a:t>
            </a:r>
          </a:p>
        </p:txBody>
      </p:sp>
    </p:spTree>
    <p:extLst>
      <p:ext uri="{BB962C8B-B14F-4D97-AF65-F5344CB8AC3E}">
        <p14:creationId xmlns:p14="http://schemas.microsoft.com/office/powerpoint/2010/main" val="4658979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6C6100-991C-40AB-9D66-2FB459023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Задача и область применения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D76DAD-33A5-4ABD-8CDC-6E0BE631A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29350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467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4677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9416C8-A5FE-474D-B141-4880E7545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Пользователь описывает симптомы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F06096-3864-4F9C-89D8-8603DA0C7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C40"/>
                </a:solidFill>
                <a:latin typeface="Arial"/>
                <a:ea typeface="Arial"/>
                <a:cs typeface="Arial"/>
              </a:rPr>
              <a:t>Программа выделяет факты, выводит возможные причины</a:t>
            </a:r>
          </a:p>
          <a:p xmlns:a="http://schemas.openxmlformats.org/drawingml/2006/main">
            <a:pPr algn="l">
              <a:defRPr sz="2250" b="0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C40"/>
                </a:solidFill>
                <a:latin typeface="Arial"/>
                <a:ea typeface="Arial"/>
                <a:cs typeface="Arial"/>
              </a:rPr>
              <a:t>и показывает основания каждого вывода.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917DDC-2746-4802-8884-C8A42A42E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6240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Семь групп проблем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D2AAE9-6765-48B2-A9CF-F60CAA47C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C40"/>
                </a:solidFill>
                <a:latin typeface="Arial"/>
                <a:ea typeface="Arial"/>
                <a:cs typeface="Arial"/>
              </a:rPr>
              <a:t>Питание, изображение, память, охлаждение,</a:t>
            </a:r>
          </a:p>
          <a:p xmlns:a="http://schemas.openxmlformats.org/drawingml/2006/main">
            <a:pPr algn="l">
              <a:defRPr sz="2100" b="0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C40"/>
                </a:solidFill>
                <a:latin typeface="Arial"/>
                <a:ea typeface="Arial"/>
                <a:cs typeface="Arial"/>
              </a:rPr>
              <a:t>накопитель, сеть и программные сбои.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5A45F0-E588-4F49-A092-CD74FBF25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4677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46778"/>
                </a:solidFill>
                <a:latin typeface="Arial"/>
                <a:ea typeface="Arial"/>
                <a:cs typeface="Arial"/>
              </a:rPr>
              <a:t>Окончательный диагноз требует проверки устройства.</a:t>
            </a:r>
          </a:p>
        </p:txBody>
      </p:sp>
    </p:spTree>
    <p:extLst>
      <p:ext uri="{BB962C8B-B14F-4D97-AF65-F5344CB8AC3E}">
        <p14:creationId xmlns:p14="http://schemas.microsoft.com/office/powerpoint/2010/main" val="1636795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D131B4-5972-410B-91A5-96B0D8D7E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Общая архитектура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3F590A-678E-4B11-822D-01DEBD5C6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29350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467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4677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4104F6-9A03-4D59-A08E-59BBDF184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47900"/>
            <a:ext cx="2000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13335">
            <a:solidFill>
              <a:srgbClr val="087F8C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Русский</a:t>
            </a:r>
          </a:p>
          <a:p xmlns:a="http://schemas.openxmlformats.org/drawingml/2006/main">
            <a:pPr algn="ctr">
              <a:defRPr sz="1950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запрос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539B5B-504E-4477-93D3-3A7CE7A7F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247900"/>
            <a:ext cx="2000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13335">
            <a:solidFill>
              <a:srgbClr val="087F8C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Известные</a:t>
            </a:r>
          </a:p>
          <a:p xmlns:a="http://schemas.openxmlformats.org/drawingml/2006/main">
            <a:pPr algn="ctr">
              <a:defRPr sz="1950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факты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BC03CF-4618-4960-9609-F7EB742D3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47900"/>
            <a:ext cx="2000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13335">
            <a:solidFill>
              <a:srgbClr val="087F8C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Вывод</a:t>
            </a:r>
          </a:p>
          <a:p xmlns:a="http://schemas.openxmlformats.org/drawingml/2006/main">
            <a:pPr algn="ctr">
              <a:defRPr sz="1950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по правилам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3FCA0D-15F7-4F4A-A437-E90B51E77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247900"/>
            <a:ext cx="2000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13335">
            <a:solidFill>
              <a:srgbClr val="087F8C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Ответ</a:t>
            </a:r>
          </a:p>
          <a:p xmlns:a="http://schemas.openxmlformats.org/drawingml/2006/main">
            <a:pPr algn="ctr">
              <a:defRPr sz="1950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и объяснение</a:t>
            </a:r>
          </a:p>
        </p:txBody>
      </p:sp>
      <p:cxnSp>
        <p:nvCxnSpPr>
          <p:cNvPr id="17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762250" y="2800350"/>
            <a:ext cx="876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arrow" w="med" len="med"/>
          </a:ln>
        </p:spPr>
      </p:cxnSp>
      <p:cxnSp>
        <p:nvCxnSpPr>
          <p:cNvPr id="18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638800" y="2800350"/>
            <a:ext cx="876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arrow" w="med" len="med"/>
          </a:ln>
        </p:spPr>
      </p:cxnSp>
      <p:cxnSp>
        <p:nvCxnSpPr>
          <p:cNvPr id="19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8515350" y="2800350"/>
            <a:ext cx="876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arrow" w="med" len="me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6A417F-9382-43F2-B5B5-638CB111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10668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C40"/>
                </a:solidFill>
                <a:latin typeface="Arial"/>
                <a:ea typeface="Arial"/>
                <a:cs typeface="Arial"/>
              </a:rPr>
              <a:t>Фреймы задают свойства устройства и компонентов.</a:t>
            </a:r>
          </a:p>
          <a:p xmlns:a="http://schemas.openxmlformats.org/drawingml/2006/main">
            <a:pPr algn="l">
              <a:defRPr sz="2100" b="0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C40"/>
                </a:solidFill>
                <a:latin typeface="Arial"/>
                <a:ea typeface="Arial"/>
                <a:cs typeface="Arial"/>
              </a:rPr>
              <a:t>Семантическая сеть связывает симптомы и объекты.</a:t>
            </a:r>
          </a:p>
          <a:p xmlns:a="http://schemas.openxmlformats.org/drawingml/2006/main">
            <a:pPr algn="l">
              <a:defRPr sz="2100" b="0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C40"/>
                </a:solidFill>
                <a:latin typeface="Arial"/>
                <a:ea typeface="Arial"/>
                <a:cs typeface="Arial"/>
              </a:rPr>
              <a:t>Bayes и MLP формируют отдельный учебный рейтинг.</a:t>
            </a:r>
          </a:p>
        </p:txBody>
      </p:sp>
    </p:spTree>
    <p:extLst>
      <p:ext uri="{BB962C8B-B14F-4D97-AF65-F5344CB8AC3E}">
        <p14:creationId xmlns:p14="http://schemas.microsoft.com/office/powerpoint/2010/main" val="5454936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34F4A4-7955-4B21-9D26-120F5A19D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База знаний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7E6724-6E35-4CE5-9DFA-551FD1E00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29350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467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4677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08B3D4-B81B-47FC-A3CC-A73EC5898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5257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C40"/>
                </a:solidFill>
                <a:latin typeface="Arial"/>
                <a:ea typeface="Arial"/>
                <a:cs typeface="Arial"/>
              </a:rPr>
              <a:t>18 симптомов     23 правила     15 фреймов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762000" y="2362200"/>
          <a:ext xmlns:a="http://schemas.openxmlformats.org/drawingml/2006/main" cx="106680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619750"/>
                <a:gridCol w="5048250"/>
              </a:tblGrid>
              <a:tr h="416719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Гипотеза</a:t>
                      </a:r>
                    </a:p>
                  </a:txBody>
                  <a:tcPr marL="91440" marR="91440" marT="45720" marB="45720">
                    <a:solidFill>
                      <a:srgbClr val="142C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Компонент</a:t>
                      </a:r>
                    </a:p>
                  </a:txBody>
                  <a:tcPr marL="91440" marR="91440" marT="45720" marB="45720">
                    <a:solidFill>
                      <a:srgbClr val="142C42"/>
                    </a:solidFill>
                  </a:tcPr>
                </a:tc>
              </a:tr>
              <a:tr h="416719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Arial"/>
                          <a:ea typeface="Arial"/>
                          <a:cs typeface="Arial"/>
                        </a:rPr>
                        <a:t>Проблема питания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Arial"/>
                          <a:ea typeface="Arial"/>
                          <a:cs typeface="Arial"/>
                        </a:rPr>
                        <a:t>Блок питания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6719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Arial"/>
                          <a:ea typeface="Arial"/>
                          <a:cs typeface="Arial"/>
                        </a:rPr>
                        <a:t>Проблема изображения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Arial"/>
                          <a:ea typeface="Arial"/>
                          <a:cs typeface="Arial"/>
                        </a:rPr>
                        <a:t>Монитор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</a:tr>
              <a:tr h="416719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Arial"/>
                          <a:ea typeface="Arial"/>
                          <a:cs typeface="Arial"/>
                        </a:rPr>
                        <a:t>Проблема памяти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Arial"/>
                          <a:ea typeface="Arial"/>
                          <a:cs typeface="Arial"/>
                        </a:rPr>
                        <a:t>Оперативная память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6719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Arial"/>
                          <a:ea typeface="Arial"/>
                          <a:cs typeface="Arial"/>
                        </a:rPr>
                        <a:t>Перегрев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Arial"/>
                          <a:ea typeface="Arial"/>
                          <a:cs typeface="Arial"/>
                        </a:rPr>
                        <a:t>Охлаждение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</a:tr>
              <a:tr h="416719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Arial"/>
                          <a:ea typeface="Arial"/>
                          <a:cs typeface="Arial"/>
                        </a:rPr>
                        <a:t>Проблема диска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Arial"/>
                          <a:ea typeface="Arial"/>
                          <a:cs typeface="Arial"/>
                        </a:rPr>
                        <a:t>Накопитель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6719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Arial"/>
                          <a:ea typeface="Arial"/>
                          <a:cs typeface="Arial"/>
                        </a:rPr>
                        <a:t>Проблема сети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Arial"/>
                          <a:ea typeface="Arial"/>
                          <a:cs typeface="Arial"/>
                        </a:rPr>
                        <a:t>Сетевой адаптер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</a:tr>
              <a:tr h="416719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Arial"/>
                          <a:ea typeface="Arial"/>
                          <a:cs typeface="Arial"/>
                        </a:rPr>
                        <a:t>Программный сбой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Arial"/>
                          <a:ea typeface="Arial"/>
                          <a:cs typeface="Arial"/>
                        </a:rPr>
                        <a:t>Операционная система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25149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F86A02-E62F-430E-A9F0-9AB858B7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Логика и неизвестные наблюдения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EA5BA4-DFE2-461A-A67A-E5012E4B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29350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467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4677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121D7D-90F3-46F6-9E22-07C932BD4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621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C40"/>
                </a:solidFill>
                <a:latin typeface="Arial"/>
                <a:ea typeface="Arial"/>
                <a:cs typeface="Arial"/>
              </a:rPr>
              <a:t>Компьютер включается, но изображения нет.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762000" y="2609850"/>
          <a:ext xmlns:a="http://schemas.openxmlformats.org/drawingml/2006/main" cx="10668000" cy="2400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2476500"/>
                <a:gridCol w="4857750"/>
              </a:tblGrid>
              <a:tr h="6000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Сигналы BIOS</a:t>
                      </a:r>
                    </a:p>
                  </a:txBody>
                  <a:tcPr marL="91440" marR="91440" marT="45720" marB="45720">
                    <a:solidFill>
                      <a:srgbClr val="142C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Правило</a:t>
                      </a:r>
                    </a:p>
                  </a:txBody>
                  <a:tcPr marL="91440" marR="91440" marT="45720" marB="45720">
                    <a:solidFill>
                      <a:srgbClr val="142C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Результат</a:t>
                      </a:r>
                    </a:p>
                  </a:txBody>
                  <a:tcPr marL="91440" marR="91440" marT="45720" marB="45720">
                    <a:solidFill>
                      <a:srgbClr val="142C42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40"/>
                          </a:solidFill>
                          <a:latin typeface="Arial"/>
                          <a:ea typeface="Arial"/>
                          <a:cs typeface="Arial"/>
                        </a:rPr>
                        <a:t>Да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40"/>
                          </a:solidFill>
                          <a:latin typeface="Arial"/>
                          <a:ea typeface="Arial"/>
                          <a:cs typeface="Arial"/>
                        </a:rPr>
                        <a:t>R03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40"/>
                          </a:solidFill>
                          <a:latin typeface="Arial"/>
                          <a:ea typeface="Arial"/>
                          <a:cs typeface="Arial"/>
                        </a:rPr>
                        <a:t>Гипотеза о памяти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40"/>
                          </a:solidFill>
                          <a:latin typeface="Arial"/>
                          <a:ea typeface="Arial"/>
                          <a:cs typeface="Arial"/>
                        </a:rPr>
                        <a:t>Нет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40"/>
                          </a:solidFill>
                          <a:latin typeface="Arial"/>
                          <a:ea typeface="Arial"/>
                          <a:cs typeface="Arial"/>
                        </a:rPr>
                        <a:t>R04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40"/>
                          </a:solidFill>
                          <a:latin typeface="Arial"/>
                          <a:ea typeface="Arial"/>
                          <a:cs typeface="Arial"/>
                        </a:rPr>
                        <a:t>Гипотеза об изображении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40"/>
                          </a:solidFill>
                          <a:latin typeface="Arial"/>
                          <a:ea typeface="Arial"/>
                          <a:cs typeface="Arial"/>
                        </a:rPr>
                        <a:t>Неизвестно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40"/>
                          </a:solidFill>
                          <a:latin typeface="Arial"/>
                          <a:ea typeface="Arial"/>
                          <a:cs typeface="Arial"/>
                        </a:rPr>
                        <a:t>Пока нет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40"/>
                          </a:solidFill>
                          <a:latin typeface="Arial"/>
                          <a:ea typeface="Arial"/>
                          <a:cs typeface="Arial"/>
                        </a:rPr>
                        <a:t>Уточняющий вопрос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41D789-F68B-4808-9457-90FBF66C0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95925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467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46778"/>
                </a:solidFill>
                <a:latin typeface="Arial"/>
                <a:ea typeface="Arial"/>
                <a:cs typeface="Arial"/>
              </a:rPr>
              <a:t>Операции AND, OR, NOT. Приоритет NOT, затем AND, затем OR.</a:t>
            </a:r>
          </a:p>
        </p:txBody>
      </p:sp>
    </p:spTree>
    <p:extLst>
      <p:ext uri="{BB962C8B-B14F-4D97-AF65-F5344CB8AC3E}">
        <p14:creationId xmlns:p14="http://schemas.microsoft.com/office/powerpoint/2010/main" val="21145154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15A726-969E-403F-AFD8-179839FD1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Прямой вывод и объяснение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1FEB2F-0200-4926-A9FC-AF07C2D71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29350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467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46778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EA5DE6-2977-4A6A-8386-A422E22C1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C40"/>
                </a:solidFill>
                <a:latin typeface="Arial"/>
                <a:ea typeface="Arial"/>
                <a:cs typeface="Arial"/>
              </a:rPr>
              <a:t>Наблюдения: включается, чёрный экран, пищит.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048D9E-185F-4D5D-8C39-3E6CD97FD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25336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13335">
            <a:solidFill>
              <a:srgbClr val="087F8C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power_on</a:t>
            </a:r>
          </a:p>
          <a:p xmlns:a="http://schemas.openxmlformats.org/drawingml/2006/main">
            <a:pPr algn="ctr">
              <a:defRPr sz="1950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NOT screen_on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2DA2D6-2506-4010-A840-EB8CBC25A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838450"/>
            <a:ext cx="25336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13335">
            <a:solidFill>
              <a:srgbClr val="087F8C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display_problem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9CAA6E-FD22-4789-8153-494218C3D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838450"/>
            <a:ext cx="25336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13335">
            <a:solidFill>
              <a:srgbClr val="087F8C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ram_failure</a:t>
            </a:r>
          </a:p>
        </p:txBody>
      </p:sp>
      <p:cxnSp>
        <p:nvCxnSpPr>
          <p:cNvPr id="18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295650" y="3409950"/>
            <a:ext cx="1476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arrow" w="med" len="med"/>
          </a:ln>
        </p:spPr>
      </p:cxnSp>
      <p:cxnSp>
        <p:nvCxnSpPr>
          <p:cNvPr id="19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305675" y="3409950"/>
            <a:ext cx="1476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arrow" w="med" len="me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2BD3B9-13D0-4193-A76B-80C88E983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819400"/>
            <a:ext cx="904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R02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43269E-F769-4E9A-AEE6-72DB0072C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76500"/>
            <a:ext cx="1257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R03 + beeps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000802-3874-454E-A03A-2B6F1A608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C40"/>
                </a:solidFill>
                <a:latin typeface="Arial"/>
                <a:ea typeface="Arial"/>
                <a:cs typeface="Arial"/>
              </a:rPr>
              <a:t>Каждый шаг сохраняет правило и посылки.</a:t>
            </a:r>
          </a:p>
          <a:p xmlns:a="http://schemas.openxmlformats.org/drawingml/2006/main">
            <a:pPr algn="l">
              <a:defRPr sz="2100" b="0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C40"/>
                </a:solidFill>
                <a:latin typeface="Arial"/>
                <a:ea typeface="Arial"/>
                <a:cs typeface="Arial"/>
              </a:rPr>
              <a:t>Правило R19 добавляет рекомендацию проверить память.</a:t>
            </a:r>
          </a:p>
        </p:txBody>
      </p:sp>
    </p:spTree>
    <p:extLst>
      <p:ext uri="{BB962C8B-B14F-4D97-AF65-F5344CB8AC3E}">
        <p14:creationId xmlns:p14="http://schemas.microsoft.com/office/powerpoint/2010/main" val="6521722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020E20-FC05-4939-872B-EA3D8A404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Фреймы и наследование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E1D838-07E9-4299-8437-46BC97255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29350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467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46778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7CE8E9-7DAC-4213-93A4-B3A64A56C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543050"/>
            <a:ext cx="26289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13335">
            <a:solidFill>
              <a:srgbClr val="087F8C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computer</a:t>
            </a:r>
          </a:p>
          <a:p xmlns:a="http://schemas.openxmlformats.org/drawingml/2006/main">
            <a:pPr algn="ctr">
              <a:defRPr sz="1950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RAM 8 ГБ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6373F5-0CDA-4BCF-8965-7A5A47342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895600"/>
            <a:ext cx="2476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13335">
            <a:solidFill>
              <a:srgbClr val="087F8C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desktop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36181D-228D-45D2-9BE3-1C8544CF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895600"/>
            <a:ext cx="2476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13335">
            <a:solidFill>
              <a:srgbClr val="087F8C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laptop</a:t>
            </a:r>
          </a:p>
          <a:p xmlns:a="http://schemas.openxmlformats.org/drawingml/2006/main">
            <a:pPr algn="ctr">
              <a:defRPr sz="1950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Аккумулятор: да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5ED6CA-F3A4-4CBD-A265-48999CC04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362450"/>
            <a:ext cx="2476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13335">
            <a:solidFill>
              <a:srgbClr val="087F8C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office_pc</a:t>
            </a:r>
          </a:p>
          <a:p xmlns:a="http://schemas.openxmlformats.org/drawingml/2006/main">
            <a:pPr algn="ctr">
              <a:defRPr sz="1950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RAM 16 ГБ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BF8DAF-FBF8-4FBB-A5AA-E08E3A624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362450"/>
            <a:ext cx="2476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13335">
            <a:solidFill>
              <a:srgbClr val="087F8C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student_laptop</a:t>
            </a:r>
          </a:p>
          <a:p xmlns:a="http://schemas.openxmlformats.org/drawingml/2006/main">
            <a:pPr algn="ctr">
              <a:defRPr sz="1950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RAM 8 ГБ</a:t>
            </a:r>
          </a:p>
        </p:txBody>
      </p:sp>
      <p:cxnSp>
        <p:nvCxnSpPr>
          <p:cNvPr id="20" name=""/>
          <p:cNvCxnSpPr>
            <a:stCxn xmlns:a="http://schemas.openxmlformats.org/drawingml/2006/main" id="3" idx="2"/>
            <a:endCxn xmlns:a="http://schemas.openxmlformats.org/drawingml/2006/main" id="4" idx="0"/>
          </p:cNvCxnSpPr>
          <p:nvPr/>
        </p:nvCxnSpPr>
        <p:spPr>
          <a:xfrm xmlns:a="http://schemas.openxmlformats.org/drawingml/2006/main" flipH="1">
            <a:off x="3105150" y="2400300"/>
            <a:ext cx="2990850" cy="4953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087F8C"/>
            </a:solidFill>
            <a:tailEnd type="arrow" w="med" len="med"/>
          </a:ln>
        </p:spPr>
      </p:cxnSp>
      <p:cxnSp>
        <p:nvCxnSpPr>
          <p:cNvPr id="21" name=""/>
          <p:cNvCxnSpPr>
            <a:stCxn xmlns:a="http://schemas.openxmlformats.org/drawingml/2006/main" id="3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6096000" y="2400300"/>
            <a:ext cx="2990850" cy="4953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087F8C"/>
            </a:solidFill>
            <a:tailEnd type="arrow" w="med" len="med"/>
          </a:ln>
        </p:spPr>
      </p:cxnSp>
      <p:cxnSp>
        <p:nvCxnSpPr>
          <p:cNvPr id="22" name=""/>
          <p:cNvCxnSpPr>
            <a:stCxn xmlns:a="http://schemas.openxmlformats.org/drawingml/2006/main" id="4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3105150" y="3676650"/>
            <a:ext cx="0" cy="685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arrow" w="med" len="med"/>
          </a:ln>
        </p:spPr>
      </p:cxnSp>
      <p:cxnSp>
        <p:nvCxnSpPr>
          <p:cNvPr id="23" name=""/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9086850" y="3676650"/>
            <a:ext cx="0" cy="685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arrow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EF1A6B-A092-4C32-827C-C3D013923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0072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4677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46778"/>
                </a:solidFill>
                <a:latin typeface="Arial"/>
                <a:ea typeface="Arial"/>
                <a:cs typeface="Arial"/>
              </a:rPr>
              <a:t>Windows наследуется от computer. Изменение экземпляра сохраняется отдельно.</a:t>
            </a:r>
          </a:p>
        </p:txBody>
      </p:sp>
    </p:spTree>
    <p:extLst>
      <p:ext uri="{BB962C8B-B14F-4D97-AF65-F5344CB8AC3E}">
        <p14:creationId xmlns:p14="http://schemas.microsoft.com/office/powerpoint/2010/main" val="17608663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8FE066-9CD6-4669-81F7-B61C3E88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Семантическая сеть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2F1303-F68D-4655-9502-4806B9D16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29350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467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46778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E24D01-69EA-4024-87B1-22A692537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02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C40"/>
                </a:solidFill>
                <a:latin typeface="Arial"/>
                <a:ea typeface="Arial"/>
                <a:cs typeface="Arial"/>
              </a:rPr>
              <a:t>22 узла и 22 связи. Поиск кратчайшего пути алгоритмом BFS.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E2E59D-B963-404A-AF34-98774AEF6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2019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13335">
            <a:solidFill>
              <a:srgbClr val="087F8C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Щелчки</a:t>
            </a:r>
          </a:p>
          <a:p xmlns:a="http://schemas.openxmlformats.org/drawingml/2006/main">
            <a:pPr algn="ctr">
              <a:defRPr sz="1950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диска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2CD249-8803-4C1B-99EE-E05511ACA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62300"/>
            <a:ext cx="2019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13335">
            <a:solidFill>
              <a:srgbClr val="087F8C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Проблема</a:t>
            </a:r>
          </a:p>
          <a:p xmlns:a="http://schemas.openxmlformats.org/drawingml/2006/main">
            <a:pPr algn="ctr">
              <a:defRPr sz="1950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диска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3470BE-51BF-4830-BEE5-497729132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62300"/>
            <a:ext cx="2019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13335">
            <a:solidFill>
              <a:srgbClr val="087F8C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Накопитель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79C86F-924B-4340-8BBB-FAFFCE24D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162300"/>
            <a:ext cx="2019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13335">
            <a:solidFill>
              <a:srgbClr val="087F8C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Компьютер</a:t>
            </a:r>
          </a:p>
        </p:txBody>
      </p:sp>
      <p:cxnSp>
        <p:nvCxnSpPr>
          <p:cNvPr id="22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781300" y="36385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arrow" w="med" len="med"/>
          </a:ln>
        </p:spPr>
      </p:cxnSp>
      <p:cxnSp>
        <p:nvCxnSpPr>
          <p:cNvPr id="23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657850" y="36385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arrow" w="med" len="med"/>
          </a:ln>
        </p:spPr>
      </p:cxnSp>
      <p:cxnSp>
        <p:nvCxnSpPr>
          <p:cNvPr id="24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534400" y="36385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arrow" w="med" len="me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7F9E1E-C96A-494D-B113-04D17124D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676525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87F8C"/>
                </a:solidFill>
                <a:latin typeface="Arial"/>
                <a:ea typeface="Arial"/>
                <a:cs typeface="Arial"/>
              </a:rPr>
              <a:t>indicates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A4A745-DE2D-40E9-B375-495C84448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676525"/>
            <a:ext cx="85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87F8C"/>
                </a:solidFill>
                <a:latin typeface="Arial"/>
                <a:ea typeface="Arial"/>
                <a:cs typeface="Arial"/>
              </a:rPr>
              <a:t>affects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73350F-CD84-495F-8BFB-A208FC331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676525"/>
            <a:ext cx="85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87F8C"/>
                </a:solidFill>
                <a:latin typeface="Arial"/>
                <a:ea typeface="Arial"/>
                <a:cs typeface="Arial"/>
              </a:rPr>
              <a:t>part-of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B47858-B690-44FD-B3DB-AB980B39F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91100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C40"/>
                </a:solidFill>
                <a:latin typeface="Arial"/>
                <a:ea typeface="Arial"/>
                <a:cs typeface="Arial"/>
              </a:rPr>
              <a:t>Путь объясняет связь объектов.</a:t>
            </a:r>
          </a:p>
          <a:p xmlns:a="http://schemas.openxmlformats.org/drawingml/2006/main">
            <a:pPr algn="l">
              <a:defRPr sz="2100" b="0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C40"/>
                </a:solidFill>
                <a:latin typeface="Arial"/>
                <a:ea typeface="Arial"/>
                <a:cs typeface="Arial"/>
              </a:rPr>
              <a:t>Диагностическое заключение подтверждают условия правил.</a:t>
            </a:r>
          </a:p>
        </p:txBody>
      </p:sp>
    </p:spTree>
    <p:extLst>
      <p:ext uri="{BB962C8B-B14F-4D97-AF65-F5344CB8AC3E}">
        <p14:creationId xmlns:p14="http://schemas.microsoft.com/office/powerpoint/2010/main" val="11552499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D71CD7-1C43-431F-859E-ED347FCAA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Учебный датасет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82EA61-238F-42AE-BA29-D55DBBCA8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29350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467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46778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723900" y="1657350"/>
          <a:ext xmlns:a="http://schemas.openxmlformats.org/drawingml/2006/main" cx="6858000" cy="3943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71a9bb1f1144d2b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06DA34-D82E-47AF-BC50-6416C701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33718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1 260 примеров</a:t>
            </a:r>
          </a:p>
          <a:p xmlns:a="http://schemas.openxmlformats.org/drawingml/2006/main">
            <a:pPr algn="l">
              <a:defRPr sz="2250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18 бинарных признаков</a:t>
            </a:r>
          </a:p>
          <a:p xmlns:a="http://schemas.openxmlformats.org/drawingml/2006/main">
            <a:pPr algn="l">
              <a:defRPr sz="2250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7 классов</a:t>
            </a:r>
          </a:p>
          <a:p xmlns:a="http://schemas.openxmlformats.org/drawingml/2006/main">
            <a:pPr algn="l">
              <a:defRPr sz="2250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Seed 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BEEC67-DC6D-4AAD-9F05-78993F616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67225"/>
            <a:ext cx="33718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4677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46778"/>
                </a:solidFill>
                <a:latin typeface="Arial"/>
                <a:ea typeface="Arial"/>
                <a:cs typeface="Arial"/>
              </a:rPr>
              <a:t>Одинаковые векторы</a:t>
            </a:r>
          </a:p>
          <a:p xmlns:a="http://schemas.openxmlformats.org/drawingml/2006/main">
            <a:pPr algn="l">
              <a:defRPr sz="1950" b="0">
                <a:solidFill>
                  <a:srgbClr val="54677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46778"/>
                </a:solidFill>
                <a:latin typeface="Arial"/>
                <a:ea typeface="Arial"/>
                <a:cs typeface="Arial"/>
              </a:rPr>
              <a:t>не пересекают выборки.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2D323A-7AD6-47CA-A9D2-03102D5FE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6740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4677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46778"/>
                </a:solidFill>
                <a:latin typeface="Arial"/>
                <a:ea typeface="Arial"/>
                <a:cs typeface="Arial"/>
              </a:rPr>
              <a:t>Синтетические данные не измеряют качество реальной диагностики.</a:t>
            </a:r>
          </a:p>
        </p:txBody>
      </p:sp>
    </p:spTree>
    <p:extLst>
      <p:ext uri="{BB962C8B-B14F-4D97-AF65-F5344CB8AC3E}">
        <p14:creationId xmlns:p14="http://schemas.microsoft.com/office/powerpoint/2010/main" val="120692501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CD3811-0F3B-4E46-A4FA-0CEA4E37A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Результаты классификации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FD2ACB-C31D-484D-A2E3-647AC1198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29350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467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4677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762000" y="1847850"/>
          <a:ext xmlns:a="http://schemas.openxmlformats.org/drawingml/2006/main" cx="10668000" cy="2609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143500"/>
                <a:gridCol w="2762250"/>
                <a:gridCol w="2762250"/>
              </a:tblGrid>
              <a:tr h="652463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Модель</a:t>
                      </a:r>
                    </a:p>
                  </a:txBody>
                  <a:tcPr marL="91440" marR="91440" marT="45720" marB="45720">
                    <a:solidFill>
                      <a:srgbClr val="142C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Accuracy test</a:t>
                      </a:r>
                    </a:p>
                  </a:txBody>
                  <a:tcPr marL="91440" marR="91440" marT="45720" marB="45720">
                    <a:solidFill>
                      <a:srgbClr val="142C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Macro F1</a:t>
                      </a:r>
                    </a:p>
                  </a:txBody>
                  <a:tcPr marL="91440" marR="91440" marT="45720" marB="45720">
                    <a:solidFill>
                      <a:srgbClr val="142C42"/>
                    </a:solidFill>
                  </a:tcPr>
                </a:tc>
              </a:tr>
              <a:tr h="652463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C40"/>
                          </a:solidFill>
                          <a:latin typeface="Arial"/>
                          <a:ea typeface="Arial"/>
                          <a:cs typeface="Arial"/>
                        </a:rPr>
                        <a:t>Majority baseline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C40"/>
                          </a:solidFill>
                          <a:latin typeface="Arial"/>
                          <a:ea typeface="Arial"/>
                          <a:cs typeface="Arial"/>
                        </a:rPr>
                        <a:t>8,20%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C40"/>
                          </a:solidFill>
                          <a:latin typeface="Arial"/>
                          <a:ea typeface="Arial"/>
                          <a:cs typeface="Arial"/>
                        </a:rPr>
                        <a:t>Не вычислялся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2463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C40"/>
                          </a:solidFill>
                          <a:latin typeface="Arial"/>
                          <a:ea typeface="Arial"/>
                          <a:cs typeface="Arial"/>
                        </a:rPr>
                        <a:t>Bernoulli Naive Bayes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C40"/>
                          </a:solidFill>
                          <a:latin typeface="Arial"/>
                          <a:ea typeface="Arial"/>
                          <a:cs typeface="Arial"/>
                        </a:rPr>
                        <a:t>95,90%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C40"/>
                          </a:solidFill>
                          <a:latin typeface="Arial"/>
                          <a:ea typeface="Arial"/>
                          <a:cs typeface="Arial"/>
                        </a:rPr>
                        <a:t>0.9592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</a:tr>
              <a:tr h="652463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C40"/>
                          </a:solidFill>
                          <a:latin typeface="Arial"/>
                          <a:ea typeface="Arial"/>
                          <a:cs typeface="Arial"/>
                        </a:rPr>
                        <a:t>MLP 18–16–7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C40"/>
                          </a:solidFill>
                          <a:latin typeface="Arial"/>
                          <a:ea typeface="Arial"/>
                          <a:cs typeface="Arial"/>
                        </a:rPr>
                        <a:t>96,31%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C40"/>
                          </a:solidFill>
                          <a:latin typeface="Arial"/>
                          <a:ea typeface="Arial"/>
                          <a:cs typeface="Arial"/>
                        </a:rPr>
                        <a:t>0.9634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AF32F6-D2C8-4B64-883F-966CB203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9675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C40"/>
                </a:solidFill>
                <a:latin typeface="Arial"/>
                <a:ea typeface="Arial"/>
                <a:cs typeface="Arial"/>
              </a:rPr>
              <a:t>Оценка на 244 тестовых синтетических примерах.</a:t>
            </a:r>
          </a:p>
          <a:p xmlns:a="http://schemas.openxmlformats.org/drawingml/2006/main">
            <a:pPr algn="l">
              <a:defRPr sz="2100" b="0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C40"/>
                </a:solidFill>
                <a:latin typeface="Arial"/>
                <a:ea typeface="Arial"/>
                <a:cs typeface="Arial"/>
              </a:rPr>
              <a:t>Выбор весов MLP использует validation.</a:t>
            </a:r>
          </a:p>
        </p:txBody>
      </p:sp>
    </p:spTree>
    <p:extLst>
      <p:ext uri="{BB962C8B-B14F-4D97-AF65-F5344CB8AC3E}">
        <p14:creationId xmlns:p14="http://schemas.microsoft.com/office/powerpoint/2010/main" val="3387994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AB27B2-34BD-4225-A254-864EF8FD6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Простая нейронная сеть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029790-4230-43C4-AA3E-FCD86E63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29350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467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4677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E33671-F624-49F5-802C-C585CA515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476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13335">
            <a:solidFill>
              <a:srgbClr val="087F8C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18 входов</a:t>
            </a:r>
          </a:p>
          <a:p xmlns:a="http://schemas.openxmlformats.org/drawingml/2006/main">
            <a:pPr algn="ctr">
              <a:defRPr sz="1950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Симптомы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822387-8D16-48A0-9D50-D648FEE97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24100"/>
            <a:ext cx="2476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13335">
            <a:solidFill>
              <a:srgbClr val="087F8C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16 нейронов</a:t>
            </a:r>
          </a:p>
          <a:p xmlns:a="http://schemas.openxmlformats.org/drawingml/2006/main">
            <a:pPr algn="ctr">
              <a:defRPr sz="1950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tanh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290CBE-281C-4578-843F-F95F1C5AD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24100"/>
            <a:ext cx="2476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13335">
            <a:solidFill>
              <a:srgbClr val="087F8C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7 выходов</a:t>
            </a:r>
          </a:p>
          <a:p xmlns:a="http://schemas.openxmlformats.org/drawingml/2006/main">
            <a:pPr algn="ctr">
              <a:defRPr sz="1950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softmax</a:t>
            </a:r>
          </a:p>
        </p:txBody>
      </p:sp>
      <p:cxnSp>
        <p:nvCxnSpPr>
          <p:cNvPr id="14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524250" y="2876550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arrow" w="med" len="med"/>
          </a:ln>
        </p:spPr>
      </p:cxnSp>
      <p:cxnSp>
        <p:nvCxnSpPr>
          <p:cNvPr id="15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334250" y="2876550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arrow" w="med" len="me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BD26B7-1A90-41F4-8ED4-ECC38E99C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10668000" cy="149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C40"/>
                </a:solidFill>
                <a:latin typeface="Arial"/>
                <a:ea typeface="Arial"/>
                <a:cs typeface="Arial"/>
              </a:rPr>
              <a:t>600 эпох, градиентный спуск, шаг 0,18.</a:t>
            </a:r>
          </a:p>
          <a:p xmlns:a="http://schemas.openxmlformats.org/drawingml/2006/main">
            <a:pPr algn="l">
              <a:defRPr sz="2175" b="0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C40"/>
                </a:solidFill>
                <a:latin typeface="Arial"/>
                <a:ea typeface="Arial"/>
                <a:cs typeface="Arial"/>
              </a:rPr>
              <a:t>Лучшие веса: эпоха 591.</a:t>
            </a:r>
          </a:p>
          <a:p xmlns:a="http://schemas.openxmlformats.org/drawingml/2006/main">
            <a:pPr algn="l">
              <a:defRPr sz="2175" b="0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C40"/>
                </a:solidFill>
                <a:latin typeface="Arial"/>
                <a:ea typeface="Arial"/>
                <a:cs typeface="Arial"/>
              </a:rPr>
              <a:t>10% признаков маскируются при обучении.</a:t>
            </a:r>
          </a:p>
        </p:txBody>
      </p:sp>
    </p:spTree>
    <p:extLst>
      <p:ext uri="{BB962C8B-B14F-4D97-AF65-F5344CB8AC3E}">
        <p14:creationId xmlns:p14="http://schemas.microsoft.com/office/powerpoint/2010/main" val="5002307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372D2F-F048-4AB1-B512-A53691865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Демонстрация помощника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F9F01E-F505-4246-88E8-F05249B5F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29350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467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4677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762000" y="1762125"/>
          <a:ext xmlns:a="http://schemas.openxmlformats.org/drawingml/2006/main" cx="10668000" cy="3314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477000"/>
                <a:gridCol w="4191000"/>
              </a:tblGrid>
              <a:tr h="66294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Запрос</a:t>
                      </a:r>
                    </a:p>
                  </a:txBody>
                  <a:tcPr marL="91440" marR="91440" marT="45720" marB="45720">
                    <a:solidFill>
                      <a:srgbClr val="142C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Результат</a:t>
                      </a:r>
                    </a:p>
                  </a:txBody>
                  <a:tcPr marL="91440" marR="91440" marT="45720" marB="45720">
                    <a:solidFill>
                      <a:srgbClr val="142C42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Arial"/>
                          <a:ea typeface="Arial"/>
                          <a:cs typeface="Arial"/>
                        </a:rPr>
                        <a:t>Не включается, вентиляторы не вращаются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Arial"/>
                          <a:ea typeface="Arial"/>
                          <a:cs typeface="Arial"/>
                        </a:rPr>
                        <a:t>Проверка питания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Arial"/>
                          <a:ea typeface="Arial"/>
                          <a:cs typeface="Arial"/>
                        </a:rPr>
                        <a:t>Перегревается, вентилятор шумит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Arial"/>
                          <a:ea typeface="Arial"/>
                          <a:cs typeface="Arial"/>
                        </a:rPr>
                        <a:t>Проверка охлаждения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Arial"/>
                          <a:ea typeface="Arial"/>
                          <a:cs typeface="Arial"/>
                        </a:rPr>
                        <a:t>Включается, чёрный экран, пищит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Arial"/>
                          <a:ea typeface="Arial"/>
                          <a:cs typeface="Arial"/>
                        </a:rPr>
                        <a:t>Гипотеза о памяти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Arial"/>
                          <a:ea typeface="Arial"/>
                          <a:cs typeface="Arial"/>
                        </a:rPr>
                        <a:t>Включается, чёрный экран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Arial"/>
                          <a:ea typeface="Arial"/>
                          <a:cs typeface="Arial"/>
                        </a:rPr>
                        <a:t>Уточнить сигналы BIOS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137F40-2DA9-4DE9-AAE0-88F113E19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1076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Запуск всех примеров: run.bat demo</a:t>
            </a:r>
          </a:p>
        </p:txBody>
      </p:sp>
    </p:spTree>
    <p:extLst>
      <p:ext uri="{BB962C8B-B14F-4D97-AF65-F5344CB8AC3E}">
        <p14:creationId xmlns:p14="http://schemas.microsoft.com/office/powerpoint/2010/main" val="30767002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2FF7F2-AA12-4164-8E9D-C6158809F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Готовность проекта и ограничения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A9E88B-CBF4-483A-919D-528E5C3B6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29350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467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4677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0402C6-70A5-44F3-8D23-BD8ACF3AA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Программа, знания и материалы готовы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06BE0D-99A2-4A74-B3B9-BCC9CC7AE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1066800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C40"/>
                </a:solidFill>
                <a:latin typeface="Arial"/>
                <a:ea typeface="Arial"/>
                <a:cs typeface="Arial"/>
              </a:rPr>
              <a:t>31 автоматическая проверка.</a:t>
            </a:r>
          </a:p>
          <a:p xmlns:a="http://schemas.openxmlformats.org/drawingml/2006/main">
            <a:pPr algn="l">
              <a:defRPr sz="2175" b="0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C40"/>
                </a:solidFill>
                <a:latin typeface="Arial"/>
                <a:ea typeface="Arial"/>
                <a:cs typeface="Arial"/>
              </a:rPr>
              <a:t>README, отчёты, результаты моделей и сценарий защиты.</a:t>
            </a:r>
          </a:p>
          <a:p xmlns:a="http://schemas.openxmlformats.org/drawingml/2006/main">
            <a:pPr algn="l">
              <a:defRPr sz="2175" b="0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C40"/>
                </a:solidFill>
                <a:latin typeface="Arial"/>
                <a:ea typeface="Arial"/>
                <a:cs typeface="Arial"/>
              </a:rPr>
              <a:t>GitHub: github.com/OverlordCrowley/SII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07FE22-52FD-4F67-B3AD-93AB30F90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863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Границы учебного решения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9FD4E-B289-4F6B-B13E-E0104E762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48275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4677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46778"/>
                </a:solidFill>
                <a:latin typeface="Arial"/>
                <a:ea typeface="Arial"/>
                <a:cs typeface="Arial"/>
              </a:rPr>
              <a:t>Словарь фраз ограничен, данные синтетические.</a:t>
            </a:r>
          </a:p>
          <a:p xmlns:a="http://schemas.openxmlformats.org/drawingml/2006/main">
            <a:pPr algn="l">
              <a:defRPr sz="2025" b="0">
                <a:solidFill>
                  <a:srgbClr val="54677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46778"/>
                </a:solidFill>
                <a:latin typeface="Arial"/>
                <a:ea typeface="Arial"/>
                <a:cs typeface="Arial"/>
              </a:rPr>
              <a:t>Перед сдачей: личные данные и защита.</a:t>
            </a:r>
          </a:p>
        </p:txBody>
      </p:sp>
    </p:spTree>
    <p:extLst>
      <p:ext uri="{BB962C8B-B14F-4D97-AF65-F5344CB8AC3E}">
        <p14:creationId xmlns:p14="http://schemas.microsoft.com/office/powerpoint/2010/main" val="6386394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2026-10-04T10:03:44.5380000Z</dcterms:created>
  <dcterms:modified xsi:type="dcterms:W3CDTF">2026-10-04T10:03:44.5380000Z</dcterms:modified>
</coreProperties>
</file>