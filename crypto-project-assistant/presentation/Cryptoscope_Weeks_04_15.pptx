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80787678944a7" /><Relationship Type="http://schemas.openxmlformats.org/officeDocument/2006/relationships/extended-properties" Target="/docProps/app.xml" Id="R2b468e91d2e24f90" /><Relationship Type="http://schemas.openxmlformats.org/officeDocument/2006/relationships/officeDocument" Target="/ppt/presentation.xml" Id="Rff5a400c918340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e61fa2d1cf4dcc"/>
  </p:sldMasterIdLst>
  <p:notesMasterIdLst>
    <p:notesMasterId xmlns:r="http://schemas.openxmlformats.org/officeDocument/2006/relationships" r:id="R47b401bbdbb942be"/>
  </p:notesMasterIdLst>
  <p:sldIdLst>
    <p:sldId xmlns:r="http://schemas.openxmlformats.org/officeDocument/2006/relationships" id="256" r:id="R30b973bfd4544025"/>
    <p:sldId xmlns:r="http://schemas.openxmlformats.org/officeDocument/2006/relationships" id="257" r:id="R4247ba6b2f194395"/>
    <p:sldId xmlns:r="http://schemas.openxmlformats.org/officeDocument/2006/relationships" id="258" r:id="R134b38fb977d4ce0"/>
    <p:sldId xmlns:r="http://schemas.openxmlformats.org/officeDocument/2006/relationships" id="259" r:id="R8797911bf2ab4472"/>
    <p:sldId xmlns:r="http://schemas.openxmlformats.org/officeDocument/2006/relationships" id="260" r:id="R7affcd9ed10f4159"/>
    <p:sldId xmlns:r="http://schemas.openxmlformats.org/officeDocument/2006/relationships" id="261" r:id="R9217442a10514224"/>
    <p:sldId xmlns:r="http://schemas.openxmlformats.org/officeDocument/2006/relationships" id="262" r:id="R69cb4a97dee445f3"/>
    <p:sldId xmlns:r="http://schemas.openxmlformats.org/officeDocument/2006/relationships" id="263" r:id="Rfd5e830fc56b4fd2"/>
    <p:sldId xmlns:r="http://schemas.openxmlformats.org/officeDocument/2006/relationships" id="264" r:id="R0e5be72712de472c"/>
    <p:sldId xmlns:r="http://schemas.openxmlformats.org/officeDocument/2006/relationships" id="265" r:id="Rc8ca8e3a612542a5"/>
    <p:sldId xmlns:r="http://schemas.openxmlformats.org/officeDocument/2006/relationships" id="266" r:id="Rb944ebbbd1984304"/>
    <p:sldId xmlns:r="http://schemas.openxmlformats.org/officeDocument/2006/relationships" id="267" r:id="R0bcfbb5c15994e58"/>
    <p:sldId xmlns:r="http://schemas.openxmlformats.org/officeDocument/2006/relationships" id="268" r:id="R8e390a604e974df7"/>
    <p:sldId xmlns:r="http://schemas.openxmlformats.org/officeDocument/2006/relationships" id="269" r:id="Rdde737b9b9d54d53"/>
    <p:sldId xmlns:r="http://schemas.openxmlformats.org/officeDocument/2006/relationships" id="270" r:id="R7a2dcd9aef474a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8e1f8ba715414d" /><Relationship Type="http://schemas.openxmlformats.org/officeDocument/2006/relationships/slideMaster" Target="/ppt/slideMasters/slideMaster1.xml" Id="Rb8e61fa2d1cf4dcc" /><Relationship Type="http://schemas.openxmlformats.org/officeDocument/2006/relationships/notesMaster" Target="/ppt/notesMasters/notesMaster1.xml" Id="R47b401bbdbb942be" /><Relationship Type="http://schemas.openxmlformats.org/officeDocument/2006/relationships/presProps" Target="/ppt/presProps.xml" Id="R109e2fef65bd4925" /><Relationship Type="http://schemas.openxmlformats.org/officeDocument/2006/relationships/tableStyles" Target="/ppt/tableStyles.xml" Id="R003ee0f739d54155" /><Relationship Type="http://schemas.openxmlformats.org/officeDocument/2006/relationships/slide" Target="/ppt/slides/slide1.xml" Id="R30b973bfd4544025" /><Relationship Type="http://schemas.openxmlformats.org/officeDocument/2006/relationships/slide" Target="/ppt/slides/slide2.xml" Id="R4247ba6b2f194395" /><Relationship Type="http://schemas.openxmlformats.org/officeDocument/2006/relationships/slide" Target="/ppt/slides/slide3.xml" Id="R134b38fb977d4ce0" /><Relationship Type="http://schemas.openxmlformats.org/officeDocument/2006/relationships/slide" Target="/ppt/slides/slide4.xml" Id="R8797911bf2ab4472" /><Relationship Type="http://schemas.openxmlformats.org/officeDocument/2006/relationships/slide" Target="/ppt/slides/slide5.xml" Id="R7affcd9ed10f4159" /><Relationship Type="http://schemas.openxmlformats.org/officeDocument/2006/relationships/slide" Target="/ppt/slides/slide6.xml" Id="R9217442a10514224" /><Relationship Type="http://schemas.openxmlformats.org/officeDocument/2006/relationships/slide" Target="/ppt/slides/slide7.xml" Id="R69cb4a97dee445f3" /><Relationship Type="http://schemas.openxmlformats.org/officeDocument/2006/relationships/slide" Target="/ppt/slides/slide8.xml" Id="Rfd5e830fc56b4fd2" /><Relationship Type="http://schemas.openxmlformats.org/officeDocument/2006/relationships/slide" Target="/ppt/slides/slide9.xml" Id="R0e5be72712de472c" /><Relationship Type="http://schemas.openxmlformats.org/officeDocument/2006/relationships/slide" Target="/ppt/slides/slide10.xml" Id="Rc8ca8e3a612542a5" /><Relationship Type="http://schemas.openxmlformats.org/officeDocument/2006/relationships/slide" Target="/ppt/slides/slide11.xml" Id="Rb944ebbbd1984304" /><Relationship Type="http://schemas.openxmlformats.org/officeDocument/2006/relationships/slide" Target="/ppt/slides/slide12.xml" Id="R0bcfbb5c15994e58" /><Relationship Type="http://schemas.openxmlformats.org/officeDocument/2006/relationships/slide" Target="/ppt/slides/slide13.xml" Id="R8e390a604e974df7" /><Relationship Type="http://schemas.openxmlformats.org/officeDocument/2006/relationships/slide" Target="/ppt/slides/slide14.xml" Id="Rdde737b9b9d54d53" /><Relationship Type="http://schemas.openxmlformats.org/officeDocument/2006/relationships/slide" Target="/ppt/slides/slide15.xml" Id="R7a2dcd9aef474a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338e67d81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498be9c334423" /><Relationship Type="http://schemas.openxmlformats.org/officeDocument/2006/relationships/notesMaster" Target="/ppt/notesMasters/notesMaster1.xml" Id="Rb2bf4b85e7744a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0fd39547646e7" /><Relationship Type="http://schemas.openxmlformats.org/officeDocument/2006/relationships/notesMaster" Target="/ppt/notesMasters/notesMaster1.xml" Id="R0459d2f8b2f94e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4e9622b8804a22" /><Relationship Type="http://schemas.openxmlformats.org/officeDocument/2006/relationships/notesMaster" Target="/ppt/notesMasters/notesMaster1.xml" Id="Rffa67d40dbf54e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741934c91e4264" /><Relationship Type="http://schemas.openxmlformats.org/officeDocument/2006/relationships/notesMaster" Target="/ppt/notesMasters/notesMaster1.xml" Id="Rc335eebdf5bb49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b9e94711294320" /><Relationship Type="http://schemas.openxmlformats.org/officeDocument/2006/relationships/notesMaster" Target="/ppt/notesMasters/notesMaster1.xml" Id="R1953d4d183264b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a0d4a9d24e4ba2" /><Relationship Type="http://schemas.openxmlformats.org/officeDocument/2006/relationships/notesMaster" Target="/ppt/notesMasters/notesMaster1.xml" Id="R60b9f56cf644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17221b0c9347ff" /><Relationship Type="http://schemas.openxmlformats.org/officeDocument/2006/relationships/notesMaster" Target="/ppt/notesMasters/notesMaster1.xml" Id="Rcfafce3bfd3c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2e6e8eb4c44ac7" /><Relationship Type="http://schemas.openxmlformats.org/officeDocument/2006/relationships/notesMaster" Target="/ppt/notesMasters/notesMaster1.xml" Id="Rde438a54caa746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f2257c6464ab2" /><Relationship Type="http://schemas.openxmlformats.org/officeDocument/2006/relationships/notesMaster" Target="/ppt/notesMasters/notesMaster1.xml" Id="Re5a3369b71f64f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09857239094c24" /><Relationship Type="http://schemas.openxmlformats.org/officeDocument/2006/relationships/notesMaster" Target="/ppt/notesMasters/notesMaster1.xml" Id="R6105a625a5d64a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5d6325f052475b" /><Relationship Type="http://schemas.openxmlformats.org/officeDocument/2006/relationships/notesMaster" Target="/ppt/notesMasters/notesMaster1.xml" Id="Rdbf1922adea14f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2e74ea5e264a85" /><Relationship Type="http://schemas.openxmlformats.org/officeDocument/2006/relationships/notesMaster" Target="/ppt/notesMasters/notesMaster1.xml" Id="R28e07ceec56b46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cba252d5e04529" /><Relationship Type="http://schemas.openxmlformats.org/officeDocument/2006/relationships/notesMaster" Target="/ppt/notesMasters/notesMaster1.xml" Id="Rdd25aa9df6a346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9bee9484444deb" /><Relationship Type="http://schemas.openxmlformats.org/officeDocument/2006/relationships/notesMaster" Target="/ppt/notesMasters/notesMaster1.xml" Id="R83aa669c5e5549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d8779f7f9c42a1" /><Relationship Type="http://schemas.openxmlformats.org/officeDocument/2006/relationships/notesMaster" Target="/ppt/notesMasters/notesMaster1.xml" Id="R049bd4a65871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Представиться. Система оценивает полноту исследования по введённым сведениям. Не прогнозирует цену. Материалы защиты подготовлены; проведение подтверждает студент после выступления.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data/knowledge.json и GitHub. 26 критериев, 28 правил, 6 фреймов, сеть 22/21.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logic.py: обратный вывод начинает с цели. Раскрыть дерево R16.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Парсер без eval. Приоритет NOT, AND, OR. Неизвестность не считается отрицанием. Команда week56.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production.py: приоритеты, рабочая память, неподвижная точка. Показать цепочку R01–R06 полного профиля.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FrameStore.describe показывает origins. Изменение focus у экземпляра не изменяет defi.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workbench.py, frame create/set/find/show. JSON-значения; .state/frames.json; после перезапуска новые типы доступны в форме.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network.py. network add-node/add-edge/related/path. Показать направленный путь к unlocks и обратный с --undirected.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dataset.py и dataset.metadata.json. Уникальные эффективные векторы: нет одинаковых входов в разных split. Метки — правила, не рыночные исходы.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models/metrics.json. Test 201; baseline самый частый train-класс. Bayes accuracy и MLP accuracy. Не оценка реальных монет.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ml.py. SGD и backpropagation; минимальная validation cross-entropy, выбранная эпоха 23. Test не выбирает параметры.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expert.py + assistant.py. Единая база, два механизма вывода, сохранённые фреймы и сеть; ModelStore получает те же применимые исходные факты.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снимок ручного теста docs/manual-qa-2026-10-07/models-desktop.png. Также CLI ask/analyze; ввод Bitcoin/BTC; экспорт Markdown/JSON.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47 тестов фактически прошли. Ручной тест браузера: алиасы, конфликт Bitcoin/ETH, полный/рискованный профили, экспорт, мобильный viewport390. CI Python3.10/3.12/3.14.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docs/DEFENSE.md содержит сценарий на7–10мин и ответы. Факт проведения защиты и оценку подтверждает студент после выступления.</a:t>
            </a:r>
          </a:p>
          <a:p xmlns:a="http://schemas.openxmlformats.org/drawingml/2006/main">
            <a:r>
              <a:t>Источник: код и данные проекта https://github.com/OverlordCrowley/SII.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2b4f076f444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4f1a1aa5a400a" /><Relationship Type="http://schemas.openxmlformats.org/officeDocument/2006/relationships/slideLayout" Target="/ppt/slideLayouts/slideLayout1.xml" Id="Re5a022ab8ee5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a022ab8ee5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8f03df8054b40" /><Relationship Type="http://schemas.openxmlformats.org/officeDocument/2006/relationships/notesSlide" Target="/ppt/notesSlides/notesSlide1.xml" Id="R72508d5af3754c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10e77fc7f4f4b" /><Relationship Type="http://schemas.openxmlformats.org/officeDocument/2006/relationships/notesSlide" Target="/ppt/notesSlides/notesSlide2.xml" Id="Rbcd81f354c444f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18c8aa824847" /><Relationship Type="http://schemas.openxmlformats.org/officeDocument/2006/relationships/notesSlide" Target="/ppt/notesSlides/notesSlide3.xml" Id="Ra6182ab99e034a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c48e755a84eff" /><Relationship Type="http://schemas.openxmlformats.org/officeDocument/2006/relationships/notesSlide" Target="/ppt/notesSlides/notesSlide4.xml" Id="Rf29c87416c954b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2073f26314eed" /><Relationship Type="http://schemas.openxmlformats.org/officeDocument/2006/relationships/notesSlide" Target="/ppt/notesSlides/notesSlide5.xml" Id="R778ed60db08248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ae73f4a554706" /><Relationship Type="http://schemas.openxmlformats.org/officeDocument/2006/relationships/notesSlide" Target="/ppt/notesSlides/notesSlide6.xml" Id="R111ab5871b0f4d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6abf1ffae4a92" /><Relationship Type="http://schemas.openxmlformats.org/officeDocument/2006/relationships/notesSlide" Target="/ppt/notesSlides/notesSlide7.xml" Id="R1d383ec13c0141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f1dda041849e1" /><Relationship Type="http://schemas.openxmlformats.org/officeDocument/2006/relationships/notesSlide" Target="/ppt/notesSlides/notesSlide8.xml" Id="R6677e10821d64e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0c71afa124964" /><Relationship Type="http://schemas.openxmlformats.org/officeDocument/2006/relationships/notesSlide" Target="/ppt/notesSlides/notesSlide9.xml" Id="R566011e31f53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3f4690d9248ff" /><Relationship Type="http://schemas.openxmlformats.org/officeDocument/2006/relationships/chart" Target="/ppt/slides/charts/chart1.xml" Id="Rd7ea11d89c1f47b0" /><Relationship Type="http://schemas.openxmlformats.org/officeDocument/2006/relationships/notesSlide" Target="/ppt/notesSlides/notesSlide10.xml" Id="R53d793b4a8544d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768d28ea84c84" /><Relationship Type="http://schemas.openxmlformats.org/officeDocument/2006/relationships/notesSlide" Target="/ppt/notesSlides/notesSlide11.xml" Id="Rfdfadc5b37554b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0f53845ff47b3" /><Relationship Type="http://schemas.openxmlformats.org/officeDocument/2006/relationships/notesSlide" Target="/ppt/notesSlides/notesSlide12.xml" Id="R54f5c178676741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e0ac96c384efb" /><Relationship Type="http://schemas.openxmlformats.org/officeDocument/2006/relationships/image" Target="/ppt/media/image.jpeg" Id="R0680a8dbe03a4d58" /><Relationship Type="http://schemas.openxmlformats.org/officeDocument/2006/relationships/notesSlide" Target="/ppt/notesSlides/notesSlide13.xml" Id="Rc99aba8f52a846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369dbd03941ac" /><Relationship Type="http://schemas.openxmlformats.org/officeDocument/2006/relationships/notesSlide" Target="/ppt/notesSlides/notesSlide14.xml" Id="R9dbead9510c043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23a2f79ae4498" /><Relationship Type="http://schemas.openxmlformats.org/officeDocument/2006/relationships/notesSlide" Target="/ppt/notesSlides/notesSlide15.xml" Id="R143851ea3ab740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accuracy</c:v>
          </c:tx>
          <c:spPr>
            <a:solidFill xmlns:a="http://schemas.openxmlformats.org/drawingml/2006/main">
              <a:srgbClr val="5947B8"/>
            </a:solidFill>
          </c:spPr>
          <c:cat>
            <c:strRef>
              <c:f>'Chart Data'!$A$2:$A$4</c:f>
              <c:strCache>
                <c:ptCount val="3"/>
                <c:pt idx="0">
                  <c:v>Частый класс</c:v>
                </c:pt>
                <c:pt idx="1">
                  <c:v>Наивный Байес</c:v>
                </c:pt>
                <c:pt idx="2">
                  <c:v>Нейросеть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0.2985</c:v>
                </c:pt>
                <c:pt idx="1">
                  <c:v>0.8109</c:v>
                </c:pt>
                <c:pt idx="2">
                  <c:v>0.99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20273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D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7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C2958-04FA-43D6-A306-F6E0F262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Криптоскоп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F4614-B4C1-4D85-BC80-D472CD05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00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ИИ-помощник для исследования</a:t>
            </a:r>
          </a:p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криптопроектов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C4F31-8F5C-41B9-B1E8-2BA79F4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rPr>
              <a:t>Кораблев Максим Игоревич</a:t>
            </a:r>
          </a:p>
          <a:p xmlns:a="http://schemas.openxmlformats.org/drawingml/2006/main">
            <a:pPr>
              <a:def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ED9F7"/>
                </a:solidFill>
                <a:latin typeface="Helvetica Neue"/>
                <a:ea typeface="Helvetica Neue"/>
                <a:cs typeface="Helvetica Neue"/>
              </a:rPr>
              <a:t>Б-ИС 24/23 Р · План недель 4–15</a:t>
            </a:r>
          </a:p>
        </p:txBody>
      </p:sp>
    </p:spTree>
    <p:extLst>
      <p:ext uri="{BB962C8B-B14F-4D97-AF65-F5344CB8AC3E}">
        <p14:creationId xmlns:p14="http://schemas.microsoft.com/office/powerpoint/2010/main" val="750277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54788-7241-447E-A49D-9AA2236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Предметная область и база знаний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D17C0-946C-4448-8174-5E5F6E3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B018-AA2F-41BD-A617-E765BD18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B30A6-49D2-4EE2-BA40-A094F0A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Задача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D16EC-9A1A-4381-B1E1-44503D50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Выявить пробелы в исследовании продукта, токена и безопасности.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494E6-4077-4ADC-AA62-B1A003F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Редактируемая база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C8419-B88F-44BA-9AFC-9657DF6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26 критериев · 28 правил · 6 типов фреймов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D5E24-155A-4895-9523-637AA12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Семантическая сеть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AB0AF-73CA-48E6-A979-369B1C13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22 понятия и 21 направленная связь. Репозиторий: OverlordCrowley/SII.</a:t>
            </a:r>
          </a:p>
        </p:txBody>
      </p:sp>
    </p:spTree>
    <p:extLst>
      <p:ext uri="{BB962C8B-B14F-4D97-AF65-F5344CB8AC3E}">
        <p14:creationId xmlns:p14="http://schemas.microsoft.com/office/powerpoint/2010/main" val="1620424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7BC0A-FDEB-47EE-B743-A172D32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Факты и логический вывод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02023-4CAB-4AAB-828E-FAF2E8F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E73CE-E2FA-4AD8-9998-DED2C0B2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12038-2C87-49CC-9244-5483CD85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audit_available = false</a:t>
            </a:r>
          </a:p>
          <a:p xmlns:a="http://schemas.openxmlformats.org/drawingml/2006/main">
            <a:pPr>
              <a:def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admin_controls_known = 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DCE63-7165-4623-AABE-54132E67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R16: NOT audit_available AND NOT admin_controls_known</a:t>
            </a:r>
          </a:p>
          <a:p xmlns:a="http://schemas.openxmlformats.org/drawingml/2006/main">
            <a:pPr>
              <a:def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⇒ security_gap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BCC9-0C1A-4C89-8332-57053D38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Обратный вывод проверяет посылки цели.</a:t>
            </a:r>
          </a:p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Неизвестный факт сохраняет значение «неизвестно».</a:t>
            </a:r>
          </a:p>
        </p:txBody>
      </p:sp>
    </p:spTree>
    <p:extLst>
      <p:ext uri="{BB962C8B-B14F-4D97-AF65-F5344CB8AC3E}">
        <p14:creationId xmlns:p14="http://schemas.microsoft.com/office/powerpoint/2010/main" val="1811690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18720-8050-47C4-8EEB-4F2626E7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AND, OR, NOT и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23BAA-58E3-4441-B710-0AD3AC7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60DC5-51E0-4458-9196-42A0B5F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F3036-5F42-4DE0-9CF7-78275B14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AND и 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70A27-5870-4AFF-9790-1D099AAC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AND требует всех посылок. Для OR достаточно подтверждённой ветви.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C3156-6FB0-4806-A54B-770FF17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NOT и неизвестность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CC89-CC77-4E3F-8401-C520DF8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NOT false = true. NOT unknown =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7528F-B35C-4911-AE8D-4845952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Доказательство результата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B9C9A-2072-4624-AA00-6F373FA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Номер правила, условие и исходные факты с основаниями.</a:t>
            </a:r>
          </a:p>
        </p:txBody>
      </p:sp>
    </p:spTree>
    <p:extLst>
      <p:ext uri="{BB962C8B-B14F-4D97-AF65-F5344CB8AC3E}">
        <p14:creationId xmlns:p14="http://schemas.microsoft.com/office/powerpoint/2010/main" val="764202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8DBC7-3807-4E11-8237-800690CD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Продукционная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E74B2-9572-4085-892B-26EC555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DFB46-4D71-440D-A910-BC7D4F1C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77D78-575E-4E9D-8382-28685532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Исходные факты → R01–R05</a:t>
            </a:r>
          </a:p>
          <a:p xmlns:a="http://schemas.openxmlformats.org/drawingml/2006/main">
            <a:pPr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→ промежуточные заключения → R06</a:t>
            </a:r>
          </a:p>
          <a:p xmlns:a="http://schemas.openxmlformats.org/drawingml/2006/main">
            <a:pPr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→ research_ready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7BD38-113F-45FF-9310-498AA8C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Правила применяются, пока появляются новые факты.</a:t>
            </a:r>
          </a:p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Трасса хранит шаг, условие и посылки.</a:t>
            </a:r>
          </a:p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Обратный вывод подтверждает каждый полученный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1037703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E5DDF-A133-4E5B-918F-FA70B7A8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Фреймы и наследование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F0AF5-9C44-4964-9388-C4D656B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65064-03A2-493F-909A-56ADBC5E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13C20-F546-492F-BB9F-4CDE820C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crypto_project → defi → demo_protocol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41232-3E7B-4BF5-80EF-B62B1CC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Наследуемые свойства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57D56-D3E8-4523-B54E-69900C7E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quote_currency = USD; требования к источникам — из crypto_project.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A9660-8332-4097-8C3B-91771B6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Локальное переопределение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8A4DC-3429-45F9-920A-1C102D42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focus у demo_protocol меняется отдельно. Происхождение каждого слота видно.</a:t>
            </a:r>
          </a:p>
        </p:txBody>
      </p:sp>
    </p:spTree>
    <p:extLst>
      <p:ext uri="{BB962C8B-B14F-4D97-AF65-F5344CB8AC3E}">
        <p14:creationId xmlns:p14="http://schemas.microsoft.com/office/powerpoint/2010/main" val="1729196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082E0-313A-49D8-A0DC-F7DF45EE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Поиск и изменение фреймов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F1CA4-FCA0-41A3-9028-1BE99FF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8089C-70C0-4A2B-B374-03CD6F37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45851-A6E0-423A-9F48-5D715342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create my_protocol defi</a:t>
            </a:r>
          </a:p>
          <a:p xmlns:a="http://schemas.openxmlformats.org/drawingml/2006/main">
            <a:pPr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set my_protocol reviewed true</a:t>
            </a:r>
          </a:p>
          <a:p xmlns:a="http://schemas.openxmlformats.org/drawingml/2006/main">
            <a:pPr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find reviewed true</a:t>
            </a:r>
          </a:p>
          <a:p xmlns:a="http://schemas.openxmlformats.org/drawingml/2006/main">
            <a:pPr>
              <a:def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frame show my_protocol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BEB7A-DF0D-4283-BDD1-8982A6F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Изменения сохраняются атомарно и загружаются помощником.</a:t>
            </a:r>
          </a:p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Поиск учитывает унаследованные свойства.</a:t>
            </a:r>
          </a:p>
        </p:txBody>
      </p:sp>
    </p:spTree>
    <p:extLst>
      <p:ext uri="{BB962C8B-B14F-4D97-AF65-F5344CB8AC3E}">
        <p14:creationId xmlns:p14="http://schemas.microsoft.com/office/powerpoint/2010/main" val="455726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97E7D-EB87-4ECF-A3C4-838CE70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Семантическая сеть и поиск BFS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BB9CD-4055-4A26-BAA1-22B5DB63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3C598-48DE-4009-AEC7-3CA81E0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F1FD2-82D3-4F4F-969A-F552546A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project → token → supply → vesting → unlocks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B36FC-CBB5-430D-9B35-685CA2C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Добавление узлов и типизированных связей.</a:t>
            </a:r>
          </a:p>
          <a:p xmlns:a="http://schemas.openxmlformats.org/drawingml/2006/main">
            <a:pPr>
              <a:def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Поиск связанных объектов по глубине и отношению.</a:t>
            </a:r>
          </a:p>
          <a:p xmlns:a="http://schemas.openxmlformats.org/drawingml/2006/main">
            <a:pPr>
              <a:def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Кратчайший путь с учётом направления.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0C001-9AB8-4AB2-94BE-53222A3A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Сеть сохраняется в .state/network.json.</a:t>
            </a:r>
          </a:p>
        </p:txBody>
      </p:sp>
    </p:spTree>
    <p:extLst>
      <p:ext uri="{BB962C8B-B14F-4D97-AF65-F5344CB8AC3E}">
        <p14:creationId xmlns:p14="http://schemas.microsoft.com/office/powerpoint/2010/main" val="1366040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5D84F-6B6F-4741-8C75-4E6BA10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Синтетический датасет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3683C-7554-4232-A1C0-40AB5323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29E81-64ED-40F3-9031-9F769352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AB13F-C955-4A08-B45B-25D5394A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1340 уникальных примеров. Метки получены из экспертных правил.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362200"/>
          <a:ext xmlns:a="http://schemas.openxmlformats.org/drawingml/2006/main" cx="108204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095500"/>
                <a:gridCol w="2152650"/>
                <a:gridCol w="2095500"/>
              </a:tblGrid>
              <a:tr h="5143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Класс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52400" marR="152400" marT="76200" marB="76200">
                    <a:solidFill>
                      <a:srgbClr val="5947B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revise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blocked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clarify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Всего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938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0273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</a:t>
                      </a:r>
                    </a:p>
                  </a:txBody>
                  <a:tcPr marL="152400" marR="1524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46D13-7586-4295-AF99-05B55B9B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Seed 42 · Разбиение 70/15/15 · Дубликаты исключены до разбиения</a:t>
            </a:r>
          </a:p>
        </p:txBody>
      </p:sp>
    </p:spTree>
    <p:extLst>
      <p:ext uri="{BB962C8B-B14F-4D97-AF65-F5344CB8AC3E}">
        <p14:creationId xmlns:p14="http://schemas.microsoft.com/office/powerpoint/2010/main" val="6441246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AC169-38AE-4619-B5D7-18E7B5B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Точность на отложенных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A7780-8B24-4E65-BE42-F6893B40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Недели 11–12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AD3EC-0B76-4D17-8AE9-13DE5AED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581150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ea11d89c1f47b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04C50-2669-4B55-A55B-892DC61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Test: 201 примеров. Macro-F1: Байес 0.821, нейросеть 0.988.</a:t>
            </a:r>
          </a:p>
          <a:p xmlns:a="http://schemas.openxmlformats.org/drawingml/2006/main">
            <a:pPr>
              <a:def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Измерено воспроизведение правил на синтетических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59400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82E2F-2516-4F0F-BD12-583586A6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Обучение простой нейросети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B4E76-9580-4A20-916A-3E9A943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64909-7C63-4942-8FD4-CC125C22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44D90-75C2-40A3-8DC2-34C355E1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58 входов → 16 скрытых нейронов → 4 класса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56ED-B668-4BDC-8378-F0B756F5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Архитектура и обучение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A8C5-7DE6-49FC-9246-3D7E8B5E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Два бита на факт. tanh/softmax, перекрёстная энтропия, SGD.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9DF75-E685-4B64-AB8A-3FCCBDE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Выбор и распознавание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784B2-DFC0-4905-9203-B7831BE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100 эпох; лучшая по validation — 23. Веса сохранены в JSON и используются в каждом анализе.</a:t>
            </a:r>
          </a:p>
        </p:txBody>
      </p:sp>
    </p:spTree>
    <p:extLst>
      <p:ext uri="{BB962C8B-B14F-4D97-AF65-F5344CB8AC3E}">
        <p14:creationId xmlns:p14="http://schemas.microsoft.com/office/powerpoint/2010/main" val="1358317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4E7A6-E271-4666-AC42-046BD9D8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Объединённая экспертная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93342-F7CE-48E3-A36A-484E8E66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F9E33-4449-496E-A0F9-DE1475C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9220C-0F1A-4FAC-965B-F3091C4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Общий механизм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D361-6589-4F40-9073-1C4CF576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База знаний → применимые факты → прямой и обратный вывод.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EC854-5985-4DAD-8CBD-4EFD77A5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Фреймы, сеть и 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2EA0B-B89F-4CEC-A9FD-072E1AF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Описание типа, связанные понятия и два обученных классификатора входят в один ответ.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D4A83-A188-4B9C-BF7E-87DE43A4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Проверяемое 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503A5-75B8-416A-B062-CA0C2F59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Статус задают правила. Расхождение моделей с ними отмечается явно.</a:t>
            </a:r>
          </a:p>
        </p:txBody>
      </p:sp>
    </p:spTree>
    <p:extLst>
      <p:ext uri="{BB962C8B-B14F-4D97-AF65-F5344CB8AC3E}">
        <p14:creationId xmlns:p14="http://schemas.microsoft.com/office/powerpoint/2010/main" val="84728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D163A-38A6-4B16-8BB0-BEB1862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ИИ-помощник в браузере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B0FAB-A2C2-47EE-964A-B48F0786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F633C-3025-444B-BB3E-9BD285DC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551D6-359C-47F3-BD6F-65B5AE38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Профиль → анализ → объяснение → рекомендации и экспорт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0a8dbe03a4d58"/>
          <a:stretch xmlns:a="http://schemas.openxmlformats.org/drawingml/2006/main"/>
        </p:blipFill>
        <p:spPr>
          <a:xfrm xmlns:a="http://schemas.openxmlformats.org/drawingml/2006/main">
            <a:off x="2523067" y="2019300"/>
            <a:ext cx="7145867" cy="401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32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D656A-B284-4A60-A982-B72BD52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Проверка реализации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A58A5-B566-438C-A04C-E04EDFEA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91B40-E20E-413A-8B3F-560633C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CCC5A-B7C3-438E-B104-46F4528E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47 автоматических тестов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99D53-D3EF-4DD4-B16D-BCD6C0C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Логика, сохранение фреймов и сети, модели, метрики, API, числа и алиасы.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5BC80-AE98-4D4C-9CF8-0BE6986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Ручная проверка интерфейса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81165-6CF3-424F-AD47-F0F63D77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Bitcoin/BTC и русские алиасы; конфликт тикера; экспорт; экран шириной 390 px.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43F71-EED1-4FB3-8472-D9EBC93E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Воспроизводимый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33E34-AF2E-4586-B26C-B000EDBC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demo, week415, unittest; Python 3.10+ без сторонних пакетов и API-ключей.</a:t>
            </a:r>
          </a:p>
        </p:txBody>
      </p:sp>
    </p:spTree>
    <p:extLst>
      <p:ext uri="{BB962C8B-B14F-4D97-AF65-F5344CB8AC3E}">
        <p14:creationId xmlns:p14="http://schemas.microsoft.com/office/powerpoint/2010/main" val="1976152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B93BF-FBCB-485C-81A1-0DC3569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Защита проекта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294F9-0382-41DF-A3C2-34AEEF17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Неделя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A3618-823A-4F91-B142-4E81345F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27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A5F5B-D253-4021-BA9F-170FA378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09E9C-3713-43FA-B614-8C1CDEFF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README, соответствие неделям, код, данные, веса и презентация.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C828B-48CD-400E-B5F6-81D68187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Показ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DEE4F-4982-410D-AA27-5B43D23F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week415 → браузер → объяснение правил → модели → экспорт отчёта.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8204B-FB48-43BF-965B-EB3E5B7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47B8"/>
                </a:solidFill>
                <a:latin typeface="Helvetica Neue"/>
                <a:ea typeface="Helvetica Neue"/>
                <a:cs typeface="Helvetica Neue"/>
              </a:rPr>
              <a:t>Граница применимости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BD1F3-152A-45FB-9020-91BD3778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739"/>
                </a:solidFill>
                <a:latin typeface="Helvetica Neue"/>
                <a:ea typeface="Helvetica Neue"/>
                <a:cs typeface="Helvetica Neue"/>
              </a:rPr>
              <a:t>Синтетическое обучение и введённые сведения. Цена, доходность и реальная безопасность не прогнозируются.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423626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2026-10-07T08:45:55.6500000Z</dcterms:created>
  <dcterms:modified xsi:type="dcterms:W3CDTF">2026-10-07T08:45:55.6500000Z</dcterms:modified>
</coreProperties>
</file>