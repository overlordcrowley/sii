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689a6060b44309" /><Relationship Type="http://schemas.openxmlformats.org/officeDocument/2006/relationships/extended-properties" Target="/docProps/app.xml" Id="R87f463ddfebd480e" /><Relationship Type="http://schemas.openxmlformats.org/officeDocument/2006/relationships/officeDocument" Target="/ppt/presentation.xml" Id="R582519ef023d4a7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51905ee5b74b38"/>
  </p:sldMasterIdLst>
  <p:notesMasterIdLst>
    <p:notesMasterId xmlns:r="http://schemas.openxmlformats.org/officeDocument/2006/relationships" r:id="Recbb91b3144749cb"/>
  </p:notesMasterIdLst>
  <p:sldIdLst>
    <p:sldId xmlns:r="http://schemas.openxmlformats.org/officeDocument/2006/relationships" id="256" r:id="R81274548d6ca498c"/>
    <p:sldId xmlns:r="http://schemas.openxmlformats.org/officeDocument/2006/relationships" id="257" r:id="R40c81a3fa5fa469a"/>
    <p:sldId xmlns:r="http://schemas.openxmlformats.org/officeDocument/2006/relationships" id="258" r:id="Reb4b4d0d18ad4bfa"/>
    <p:sldId xmlns:r="http://schemas.openxmlformats.org/officeDocument/2006/relationships" id="259" r:id="R85b7248748504677"/>
    <p:sldId xmlns:r="http://schemas.openxmlformats.org/officeDocument/2006/relationships" id="260" r:id="R17b95f4b9423435e"/>
    <p:sldId xmlns:r="http://schemas.openxmlformats.org/officeDocument/2006/relationships" id="261" r:id="Rbf75db0b2fa049a4"/>
    <p:sldId xmlns:r="http://schemas.openxmlformats.org/officeDocument/2006/relationships" id="262" r:id="R4b45a86298304b1e"/>
    <p:sldId xmlns:r="http://schemas.openxmlformats.org/officeDocument/2006/relationships" id="263" r:id="Rc1d5ac9557f64037"/>
    <p:sldId xmlns:r="http://schemas.openxmlformats.org/officeDocument/2006/relationships" id="264" r:id="Rd0a7648e48e84c03"/>
    <p:sldId xmlns:r="http://schemas.openxmlformats.org/officeDocument/2006/relationships" id="265" r:id="R7417496ee84a4e28"/>
    <p:sldId xmlns:r="http://schemas.openxmlformats.org/officeDocument/2006/relationships" id="266" r:id="R615c9521ff3341de"/>
    <p:sldId xmlns:r="http://schemas.openxmlformats.org/officeDocument/2006/relationships" id="267" r:id="R7d27253ae3a648c7"/>
    <p:sldId xmlns:r="http://schemas.openxmlformats.org/officeDocument/2006/relationships" id="268" r:id="R50eb81be19b0482f"/>
    <p:sldId xmlns:r="http://schemas.openxmlformats.org/officeDocument/2006/relationships" id="269" r:id="R82093e7473584949"/>
    <p:sldId xmlns:r="http://schemas.openxmlformats.org/officeDocument/2006/relationships" id="270" r:id="Rf744fde8a72847fa"/>
    <p:sldId xmlns:r="http://schemas.openxmlformats.org/officeDocument/2006/relationships" id="271" r:id="Rdf005b936ee845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774ae4c591940d9" /><Relationship Type="http://schemas.openxmlformats.org/officeDocument/2006/relationships/slideMaster" Target="/ppt/slideMasters/slideMaster1.xml" Id="Rb551905ee5b74b38" /><Relationship Type="http://schemas.openxmlformats.org/officeDocument/2006/relationships/notesMaster" Target="/ppt/notesMasters/notesMaster1.xml" Id="Recbb91b3144749cb" /><Relationship Type="http://schemas.openxmlformats.org/officeDocument/2006/relationships/presProps" Target="/ppt/presProps.xml" Id="Rbd4a8cf031ad4235" /><Relationship Type="http://schemas.openxmlformats.org/officeDocument/2006/relationships/tableStyles" Target="/ppt/tableStyles.xml" Id="R710391a12833423a" /><Relationship Type="http://schemas.openxmlformats.org/officeDocument/2006/relationships/slide" Target="/ppt/slides/slide1.xml" Id="R81274548d6ca498c" /><Relationship Type="http://schemas.openxmlformats.org/officeDocument/2006/relationships/slide" Target="/ppt/slides/slide2.xml" Id="R40c81a3fa5fa469a" /><Relationship Type="http://schemas.openxmlformats.org/officeDocument/2006/relationships/slide" Target="/ppt/slides/slide3.xml" Id="Reb4b4d0d18ad4bfa" /><Relationship Type="http://schemas.openxmlformats.org/officeDocument/2006/relationships/slide" Target="/ppt/slides/slide4.xml" Id="R85b7248748504677" /><Relationship Type="http://schemas.openxmlformats.org/officeDocument/2006/relationships/slide" Target="/ppt/slides/slide5.xml" Id="R17b95f4b9423435e" /><Relationship Type="http://schemas.openxmlformats.org/officeDocument/2006/relationships/slide" Target="/ppt/slides/slide6.xml" Id="Rbf75db0b2fa049a4" /><Relationship Type="http://schemas.openxmlformats.org/officeDocument/2006/relationships/slide" Target="/ppt/slides/slide7.xml" Id="R4b45a86298304b1e" /><Relationship Type="http://schemas.openxmlformats.org/officeDocument/2006/relationships/slide" Target="/ppt/slides/slide8.xml" Id="Rc1d5ac9557f64037" /><Relationship Type="http://schemas.openxmlformats.org/officeDocument/2006/relationships/slide" Target="/ppt/slides/slide9.xml" Id="Rd0a7648e48e84c03" /><Relationship Type="http://schemas.openxmlformats.org/officeDocument/2006/relationships/slide" Target="/ppt/slides/slide10.xml" Id="R7417496ee84a4e28" /><Relationship Type="http://schemas.openxmlformats.org/officeDocument/2006/relationships/slide" Target="/ppt/slides/slide11.xml" Id="R615c9521ff3341de" /><Relationship Type="http://schemas.openxmlformats.org/officeDocument/2006/relationships/slide" Target="/ppt/slides/slide12.xml" Id="R7d27253ae3a648c7" /><Relationship Type="http://schemas.openxmlformats.org/officeDocument/2006/relationships/slide" Target="/ppt/slides/slide13.xml" Id="R50eb81be19b0482f" /><Relationship Type="http://schemas.openxmlformats.org/officeDocument/2006/relationships/slide" Target="/ppt/slides/slide14.xml" Id="R82093e7473584949" /><Relationship Type="http://schemas.openxmlformats.org/officeDocument/2006/relationships/slide" Target="/ppt/slides/slide15.xml" Id="Rf744fde8a72847fa" /><Relationship Type="http://schemas.openxmlformats.org/officeDocument/2006/relationships/slide" Target="/ppt/slides/slide16.xml" Id="Rdf005b936ee845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e46343d979a4f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36f0934f6414434" /><Relationship Type="http://schemas.openxmlformats.org/officeDocument/2006/relationships/notesMaster" Target="/ppt/notesMasters/notesMaster1.xml" Id="Rf8a07684fcf148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6b65a968324b78" /><Relationship Type="http://schemas.openxmlformats.org/officeDocument/2006/relationships/notesMaster" Target="/ppt/notesMasters/notesMaster1.xml" Id="R36d67d84ef3f45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b0ecbe7ccdd4ea1" /><Relationship Type="http://schemas.openxmlformats.org/officeDocument/2006/relationships/notesMaster" Target="/ppt/notesMasters/notesMaster1.xml" Id="Rde39734109f246b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457b1ac3d4d47be" /><Relationship Type="http://schemas.openxmlformats.org/officeDocument/2006/relationships/notesMaster" Target="/ppt/notesMasters/notesMaster1.xml" Id="Re5d8c669465048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f4a835f51e4aff" /><Relationship Type="http://schemas.openxmlformats.org/officeDocument/2006/relationships/notesMaster" Target="/ppt/notesMasters/notesMaster1.xml" Id="R0d533577c40c4fa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57720b4470b41bc" /><Relationship Type="http://schemas.openxmlformats.org/officeDocument/2006/relationships/notesMaster" Target="/ppt/notesMasters/notesMaster1.xml" Id="R12e569038b5d4b9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80bbf4b2dd472f" /><Relationship Type="http://schemas.openxmlformats.org/officeDocument/2006/relationships/notesMaster" Target="/ppt/notesMasters/notesMaster1.xml" Id="R68cc370a388f4f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ccb06a6524c4472" /><Relationship Type="http://schemas.openxmlformats.org/officeDocument/2006/relationships/notesMaster" Target="/ppt/notesMasters/notesMaster1.xml" Id="Rb5673b4244d14b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2b9fdbb394409a" /><Relationship Type="http://schemas.openxmlformats.org/officeDocument/2006/relationships/notesMaster" Target="/ppt/notesMasters/notesMaster1.xml" Id="R8a3656215dc94aa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166129b669f4625" /><Relationship Type="http://schemas.openxmlformats.org/officeDocument/2006/relationships/notesMaster" Target="/ppt/notesMasters/notesMaster1.xml" Id="R5dd896706cfd4b4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dbf5830d9f84ac2" /><Relationship Type="http://schemas.openxmlformats.org/officeDocument/2006/relationships/notesMaster" Target="/ppt/notesMasters/notesMaster1.xml" Id="R00d73fc0db354ab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32bc1e712d48d2" /><Relationship Type="http://schemas.openxmlformats.org/officeDocument/2006/relationships/notesMaster" Target="/ppt/notesMasters/notesMaster1.xml" Id="R355247b098b6462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b7d6068d6dc411f" /><Relationship Type="http://schemas.openxmlformats.org/officeDocument/2006/relationships/notesMaster" Target="/ppt/notesMasters/notesMaster1.xml" Id="R32eacba5c791429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e3465ecc46e44bf" /><Relationship Type="http://schemas.openxmlformats.org/officeDocument/2006/relationships/notesMaster" Target="/ppt/notesMasters/notesMaster1.xml" Id="R9e166800d103436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8a7f649d4324e0f" /><Relationship Type="http://schemas.openxmlformats.org/officeDocument/2006/relationships/notesMaster" Target="/ppt/notesMasters/notesMaster1.xml" Id="R4b3257d1b7e44d6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b53adaf344b49ec" /><Relationship Type="http://schemas.openxmlformats.org/officeDocument/2006/relationships/notesMaster" Target="/ppt/notesMasters/notesMaster1.xml" Id="R653394006b5d4f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Представиться. Система оценивает полноту исследования по введённым сведениям. Не прогнозирует цену. Материалы защиты подготовлены; проведение подтверждает студент после выступления.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data/knowledge.json и GitHub. 26 критериев, 28 правил, 6 фреймов, сеть 22/21.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logic.py: обратный вывод начинает с цели. Раскрыть дерево R16.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Парсер без eval. Приоритет NOT, AND, OR. Неизвестность не считается отрицанием. Команда week56.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production.py: приоритеты, рабочая память, неподвижная точка. Показать цепочку R01–R06 полного профиля.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FrameStore.describe показывает origins. Изменение focus у экземпляра не изменяет defi.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workbench.py, frame create/set/find/show. JSON-значения; .state/frames.json; после перезапуска новые типы доступны в форме.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network.py. network add-node/add-edge/related/path. Показать направленный путь к unlocks и обратный с --undirected.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dataset.py и dataset.metadata.json. Уникальные эффективные векторы: нет одинаковых входов в разных split. Метки — правила, не рыночные исходы.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 models/metrics.json. Test 201; baseline самый частый train-класс. Bayes accuracy и MLP accuracy. Не оценка реальных монет.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ml.py. SGD и backpropagation; минимальная validation cross-entropy, выбранная эпоха 23. Test не выбирает параметры.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expert.py + assistant.py. Единая база, два механизма вывода, сохранённые фреймы и сеть; ModelStore получает те же применимые исходные факты.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Фактический снимок ручного теста docs/manual-qa-2026-10-07/models-desktop.png. Также CLI ask/analyze; ввод Bitcoin/BTC; экспорт Markdown/JSON.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Показать вкладку «Локальная ИИ» и команду local-ai check. Qwen получает краткий экспертный разбор по явному запросу. Подключение необязательно, классическая система работает без него. Ручная проверка: docs/LOCAL_AI_QA_2026_10_07.md. Это отдельная готовая языковая модель, не нейросеть MLP, которую студент обучил на синтетическом датасете. Источники модели: https://huggingface.co/Qwen/Qwen3.5-2B и https://huggingface.co/unsloth/Qwen3.5-2B-GGUF. API: https://github.com/ggml-org/llama.cpp/blob/master/tools/server/README.md.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57 тестов фактически прошли. Ручной тест с Qwen3.5-2B и llama-server b11461: соединение, ошибочные настройки, вопросы, отмена, смена проекта и экспорт. Desktop 1280 px, mobile 390 px, восемь тем. CI настроен для Python 3.10/3.12/3.14; удалённый запуск после публикации ещё не подтверждён. Источники: docs/LOCAL_AI_QA_2026_10_07.md, tests/, .github/workflows/tests.yml.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docs/DEFENSE.md содержит сценарий на7–10мин и ответы. Факт проведения защиты и оценку подтверждает студент после выступления.</a:t>
            </a:r>
          </a:p>
          <a:p xmlns:a="http://schemas.openxmlformats.org/drawingml/2006/main">
            <a:r>
              <a:t>Источник: код и данные проекта https://github.com/OverlordCrowley/SII.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8be0efc23745c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fbaafdf972041cc" /><Relationship Type="http://schemas.openxmlformats.org/officeDocument/2006/relationships/slideLayout" Target="/ppt/slideLayouts/slideLayout1.xml" Id="R30fbe7ad57ef43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0fbe7ad57ef43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5ab619bc84238" /><Relationship Type="http://schemas.openxmlformats.org/officeDocument/2006/relationships/notesSlide" Target="/ppt/notesSlides/notesSlide1.xml" Id="R3512d51ad77945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b75eca741445c" /><Relationship Type="http://schemas.openxmlformats.org/officeDocument/2006/relationships/notesSlide" Target="/ppt/notesSlides/notesSlide2.xml" Id="R160680fdd1144b8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1693bd14dd4046" /><Relationship Type="http://schemas.openxmlformats.org/officeDocument/2006/relationships/notesSlide" Target="/ppt/notesSlides/notesSlide3.xml" Id="R5251af4ce4244e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99a2fdfa874109" /><Relationship Type="http://schemas.openxmlformats.org/officeDocument/2006/relationships/notesSlide" Target="/ppt/notesSlides/notesSlide4.xml" Id="R0c098c1827154be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47e9eff2e1428c" /><Relationship Type="http://schemas.openxmlformats.org/officeDocument/2006/relationships/notesSlide" Target="/ppt/notesSlides/notesSlide5.xml" Id="R16b72a03fec64a4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36380a6e564921" /><Relationship Type="http://schemas.openxmlformats.org/officeDocument/2006/relationships/notesSlide" Target="/ppt/notesSlides/notesSlide6.xml" Id="R6983deefa6ae45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33fa70313740a0" /><Relationship Type="http://schemas.openxmlformats.org/officeDocument/2006/relationships/notesSlide" Target="/ppt/notesSlides/notesSlide7.xml" Id="Rf7d354eb842344e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0e66d3b324da0" /><Relationship Type="http://schemas.openxmlformats.org/officeDocument/2006/relationships/notesSlide" Target="/ppt/notesSlides/notesSlide8.xml" Id="Rfd852171155d4f9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de03f432c64619" /><Relationship Type="http://schemas.openxmlformats.org/officeDocument/2006/relationships/notesSlide" Target="/ppt/notesSlides/notesSlide9.xml" Id="Rd2c681e3f72d4c0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5085d18e4b45a8" /><Relationship Type="http://schemas.openxmlformats.org/officeDocument/2006/relationships/chart" Target="/ppt/slides/charts/chart1.xml" Id="R9d5f00b393fd4791" /><Relationship Type="http://schemas.openxmlformats.org/officeDocument/2006/relationships/notesSlide" Target="/ppt/notesSlides/notesSlide10.xml" Id="Rd76c2b7487f141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9d9966138e4cd9" /><Relationship Type="http://schemas.openxmlformats.org/officeDocument/2006/relationships/notesSlide" Target="/ppt/notesSlides/notesSlide11.xml" Id="R1b175b01e74142a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b5ad4d95c74e40" /><Relationship Type="http://schemas.openxmlformats.org/officeDocument/2006/relationships/notesSlide" Target="/ppt/notesSlides/notesSlide12.xml" Id="R81f68400ce22468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445ec2b8a24ddb" /><Relationship Type="http://schemas.openxmlformats.org/officeDocument/2006/relationships/image" Target="/ppt/media/image.jpeg" Id="R089287112e8f48ad" /><Relationship Type="http://schemas.openxmlformats.org/officeDocument/2006/relationships/notesSlide" Target="/ppt/notesSlides/notesSlide13.xml" Id="R5e7aacf5bb52451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5696cf862b4564" /><Relationship Type="http://schemas.openxmlformats.org/officeDocument/2006/relationships/notesSlide" Target="/ppt/notesSlides/notesSlide14.xml" Id="Rd58f01ed7a6c409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c1de836e24565" /><Relationship Type="http://schemas.openxmlformats.org/officeDocument/2006/relationships/notesSlide" Target="/ppt/notesSlides/notesSlide15.xml" Id="R5f304a49e9244f5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12a0f30d9c43af" /><Relationship Type="http://schemas.openxmlformats.org/officeDocument/2006/relationships/notesSlide" Target="/ppt/notesSlides/notesSlide16.xml" Id="R159f3136121648ad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Test accuracy</c:v>
          </c:tx>
          <c:spPr>
            <a:solidFill xmlns:a="http://schemas.openxmlformats.org/drawingml/2006/main">
              <a:srgbClr val="5947B8"/>
            </a:solidFill>
          </c:spPr>
          <c:cat>
            <c:strRef>
              <c:f>'Chart Data'!$A$2:$A$4</c:f>
              <c:strCache>
                <c:ptCount val="3"/>
                <c:pt idx="0">
                  <c:v>Частый класс</c:v>
                </c:pt>
                <c:pt idx="1">
                  <c:v>Наивный Байес</c:v>
                </c:pt>
                <c:pt idx="2">
                  <c:v>Нейросеть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0.2985</c:v>
                </c:pt>
                <c:pt idx="1">
                  <c:v>0.8109</c:v>
                </c:pt>
                <c:pt idx="2">
                  <c:v>0.99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02739"/>
                  </a:solidFill>
                  <a:latin typeface="Helvetica Neue"/>
                  <a:ea typeface="Helvetica Neue"/>
                  <a:cs typeface="Helvetica Neue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9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4E7ED"/>
              </a:solidFill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</a:p>
        </c:txPr>
        <c:crossAx val="48650112"/>
        <c:crossBetween val="between"/>
        <c:majorUnit val="0.25"/>
      </c:valAx>
    </c:plotArea>
    <c:plotVisOnly val="1"/>
  </c:chart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273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0C2958-04FA-43D6-A306-F6E0F2623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51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Криптоскоп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9F4614-B4C1-4D85-BC80-D472CD05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52750"/>
            <a:ext cx="1000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ИИ-помощник для исследования</a:t>
            </a:r>
          </a:p>
          <a:p xmlns:a="http://schemas.openxmlformats.org/drawingml/2006/main">
            <a:pPr>
              <a:buNone/>
              <a:def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rPr>
              <a:t>криптопроектов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C4F31-8F5C-41B9-B1E8-2BA79F423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47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DED9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ED9F7"/>
                </a:solidFill>
                <a:latin typeface="Helvetica Neue"/>
                <a:ea typeface="Helvetica Neue"/>
                <a:cs typeface="Helvetica Neue"/>
              </a:rPr>
              <a:t>Кораблев Максим Игоревич</a:t>
            </a:r>
          </a:p>
          <a:p xmlns:a="http://schemas.openxmlformats.org/drawingml/2006/main">
            <a:pPr>
              <a:buNone/>
              <a:defRPr sz="2100" b="0">
                <a:solidFill>
                  <a:srgbClr val="DED9F7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DED9F7"/>
                </a:solidFill>
                <a:latin typeface="Helvetica Neue"/>
                <a:ea typeface="Helvetica Neue"/>
                <a:cs typeface="Helvetica Neue"/>
              </a:rPr>
              <a:t>Б-ИС 24/23 Р · План недель 4–15</a:t>
            </a:r>
          </a:p>
        </p:txBody>
      </p:sp>
    </p:spTree>
    <p:extLst>
      <p:ext uri="{BB962C8B-B14F-4D97-AF65-F5344CB8AC3E}">
        <p14:creationId xmlns:p14="http://schemas.microsoft.com/office/powerpoint/2010/main" val="7502774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D54788-7241-447E-A49D-9AA22364A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Предметная область и база знаний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0D17C0-946C-4448-8174-5E5F6E3B3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4DB018-AA2F-41BD-A617-E765BD18E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2B30A6-49D2-4EE2-BA40-A094F0ACD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Задача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ED16EC-9A1A-4381-B1E1-44503D50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Выявить пробелы в исследовании продукта, токена и безопасности.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0C494E6-4077-4ADC-AA62-B1A003FBB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Редактируемая база JSON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BC8419-B88F-44BA-9AFC-9657DF6E3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26 критериев · 28 правил · 6 типов фреймов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D5E24-155A-4895-9523-637AA1214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Семантическая сеть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AB0AF-73CA-48E6-A979-369B1C13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22 понятия и 21 направленная связь. Репозиторий: OverlordCrowley/SII.</a:t>
            </a:r>
          </a:p>
        </p:txBody>
      </p:sp>
    </p:spTree>
    <p:extLst>
      <p:ext uri="{BB962C8B-B14F-4D97-AF65-F5344CB8AC3E}">
        <p14:creationId xmlns:p14="http://schemas.microsoft.com/office/powerpoint/2010/main" val="16204244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77BC0A-FDEB-47EE-B743-A172D3209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Факты и логический вывод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5A02023-4CAB-4AAB-828E-FAF2E8F06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1E73CE-E2FA-4AD8-9998-DED2C0B28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712038-2C87-49CC-9244-5483CD852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8204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audit_available = false</a:t>
            </a:r>
          </a:p>
          <a:p xmlns:a="http://schemas.openxmlformats.org/drawingml/2006/main">
            <a:pPr>
              <a:buNone/>
              <a:def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admin_controls_known = false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DCE63-7165-4623-AABE-54132E67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62300"/>
            <a:ext cx="108204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R16: NOT audit_available AND NOT admin_controls_known</a:t>
            </a:r>
          </a:p>
          <a:p xmlns:a="http://schemas.openxmlformats.org/drawingml/2006/main">
            <a:pPr>
              <a:buNone/>
              <a:defRPr sz="2400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⇒ security_gap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FCBCC9-0C1A-4C89-8332-57053D38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Обратный вывод проверяет посылки цели.</a:t>
            </a:r>
          </a:p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Неизвестный факт сохраняет значение «неизвестно».</a:t>
            </a:r>
          </a:p>
        </p:txBody>
      </p:sp>
    </p:spTree>
    <p:extLst>
      <p:ext uri="{BB962C8B-B14F-4D97-AF65-F5344CB8AC3E}">
        <p14:creationId xmlns:p14="http://schemas.microsoft.com/office/powerpoint/2010/main" val="181169083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18720-8050-47C4-8EEB-4F2626E76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AND, OR, NOT и объяснение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423BAA-58E3-4441-B710-0AD3AC7BD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B60DC5-51E0-4458-9196-42A0B5F30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8F3036-5F42-4DE0-9CF7-78275B14A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AND и OR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370A27-5870-4AFF-9790-1D099AAC4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AND требует всех посылок. Для OR достаточно подтверждённой ветви.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6C3156-6FB0-4806-A54B-770FF1720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NOT и неизвестность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A8CC89-CC77-4E3F-8401-C520DF85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NOT false = true. NOT unknown = unknown.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D7528F-B35C-4911-AE8D-4845952E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Доказательство результата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3B9C9A-2072-4624-AA00-6F373FA62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Номер правила, условие и исходные факты с основаниями.</a:t>
            </a:r>
          </a:p>
        </p:txBody>
      </p:sp>
    </p:spTree>
    <p:extLst>
      <p:ext uri="{BB962C8B-B14F-4D97-AF65-F5344CB8AC3E}">
        <p14:creationId xmlns:p14="http://schemas.microsoft.com/office/powerpoint/2010/main" val="76420231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8DBC7-3807-4E11-8237-800690CD7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Продукционная система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32E74B2-9572-4085-892B-26EC5552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6DFB46-4D71-440D-A910-BC7D4F1C2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277D78-575E-4E9D-8382-28685532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10820400" cy="2057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Исходные факты → R01–R05</a:t>
            </a:r>
          </a:p>
          <a:p xmlns:a="http://schemas.openxmlformats.org/drawingml/2006/main">
            <a:pPr>
              <a:buNone/>
              <a:def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→ промежуточные заключения → R06</a:t>
            </a:r>
          </a:p>
          <a:p xmlns:a="http://schemas.openxmlformats.org/drawingml/2006/main">
            <a:pPr>
              <a:buNone/>
              <a:def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→ research_ready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7BD38-113F-45FF-9310-498AA8C0C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38650"/>
            <a:ext cx="108204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Правила применяются, пока появляются новые факты.</a:t>
            </a:r>
          </a:p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Трасса хранит шаг, условие и посылки.</a:t>
            </a:r>
          </a:p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Обратный вывод подтверждает каждый полученный результат.</a:t>
            </a:r>
          </a:p>
        </p:txBody>
      </p:sp>
    </p:spTree>
    <p:extLst>
      <p:ext uri="{BB962C8B-B14F-4D97-AF65-F5344CB8AC3E}">
        <p14:creationId xmlns:p14="http://schemas.microsoft.com/office/powerpoint/2010/main" val="11037703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7E5DDF-A133-4E5B-918F-FA70B7A83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Фреймы и наследование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4F0AF5-9C44-4964-9388-C4D656B8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365064-03A2-493F-909A-56ADBC5E5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913C20-F546-492F-BB9F-4CDE820CE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crypto_project → defi → demo_protocol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A41232-3E7B-4BF5-80EF-B62B1CC4D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Наследуемые свойства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657D56-D3E8-4523-B54E-69900C7E4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718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quote_currency = USD; требования к источникам — из crypto_project.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BA9660-8332-4097-8C3B-91771B64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672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Локальное переопределение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C8A4DC-3429-45F9-920A-1C102D422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815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focus у demo_protocol меняется отдельно. Происхождение каждого слота видно.</a:t>
            </a:r>
          </a:p>
        </p:txBody>
      </p:sp>
    </p:spTree>
    <p:extLst>
      <p:ext uri="{BB962C8B-B14F-4D97-AF65-F5344CB8AC3E}">
        <p14:creationId xmlns:p14="http://schemas.microsoft.com/office/powerpoint/2010/main" val="172919630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9082E0-313A-49D8-A0DC-F7DF45EE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Поиск и изменение фреймов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8F1CA4-FCA0-41A3-9028-1BE99FF2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D8089C-70C0-4A2B-B374-03CD6F379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E45851-A6E0-423A-9F48-5D715342B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frame create my_protocol defi</a:t>
            </a:r>
          </a:p>
          <a:p xmlns:a="http://schemas.openxmlformats.org/drawingml/2006/main">
            <a:pPr>
              <a:buNone/>
              <a:def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frame set my_protocol reviewed true</a:t>
            </a:r>
          </a:p>
          <a:p xmlns:a="http://schemas.openxmlformats.org/drawingml/2006/main">
            <a:pPr>
              <a:buNone/>
              <a:def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frame find reviewed true</a:t>
            </a:r>
          </a:p>
          <a:p xmlns:a="http://schemas.openxmlformats.org/drawingml/2006/main">
            <a:pPr>
              <a:buNone/>
              <a:def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0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frame show my_protocol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8BEB7A-DF0D-4283-BDD1-8982A6F90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9650"/>
            <a:ext cx="108204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Изменения сохраняются атомарно и загружаются помощником.</a:t>
            </a:r>
          </a:p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Поиск учитывает унаследованные свойства.</a:t>
            </a:r>
          </a:p>
        </p:txBody>
      </p:sp>
    </p:spTree>
    <p:extLst>
      <p:ext uri="{BB962C8B-B14F-4D97-AF65-F5344CB8AC3E}">
        <p14:creationId xmlns:p14="http://schemas.microsoft.com/office/powerpoint/2010/main" val="455726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E97E7D-EB87-4ECF-A3C4-838CE709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Семантическая сеть и поиск BFS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8BB9CD-4055-4A26-BAA1-22B5DB63F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3C598-48DE-4009-AEC7-3CA81E070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DF1FD2-82D3-4F4F-969A-F552546AC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project → token → supply → vesting → unlocks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AB36FC-CBB5-430D-9B35-685CA2CCE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76600"/>
            <a:ext cx="108204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Добавление узлов и типизированных связей.</a:t>
            </a:r>
          </a:p>
          <a:p xmlns:a="http://schemas.openxmlformats.org/drawingml/2006/main">
            <a:pPr>
              <a:buNone/>
              <a:def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Поиск связанных объектов по глубине и отношению.</a:t>
            </a:r>
          </a:p>
          <a:p xmlns:a="http://schemas.openxmlformats.org/drawingml/2006/main">
            <a:pPr>
              <a:buNone/>
              <a:def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Кратчайший путь с учётом направления.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10C001-9AB8-4AB2-94BE-53222A3A7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1150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Сеть сохраняется в .state/network.json.</a:t>
            </a:r>
          </a:p>
        </p:txBody>
      </p:sp>
    </p:spTree>
    <p:extLst>
      <p:ext uri="{BB962C8B-B14F-4D97-AF65-F5344CB8AC3E}">
        <p14:creationId xmlns:p14="http://schemas.microsoft.com/office/powerpoint/2010/main" val="13660406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25D84F-6B6F-4741-8C75-4E6BA107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Синтетический датасет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3683C-7554-4232-A1C0-40AB5323A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229E81-64ED-40F3-9031-9F7693526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6AB13F-C955-4A08-B45B-25D5394A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10820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1340 уникальных примеров. Метки получены из экспертных правил.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2362200"/>
          <a:ext xmlns:a="http://schemas.openxmlformats.org/drawingml/2006/main" cx="10820400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6750"/>
                <a:gridCol w="2095500"/>
                <a:gridCol w="2152650"/>
                <a:gridCol w="2095500"/>
              </a:tblGrid>
              <a:tr h="51435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Класс</a:t>
                      </a:r>
                    </a:p>
                  </a:txBody>
                  <a:tcPr marL="152400" marR="152400" marT="76200" marB="76200">
                    <a:solidFill>
                      <a:srgbClr val="5947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Train</a:t>
                      </a:r>
                    </a:p>
                  </a:txBody>
                  <a:tcPr marL="152400" marR="152400" marT="76200" marB="76200">
                    <a:solidFill>
                      <a:srgbClr val="5947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Validation</a:t>
                      </a:r>
                    </a:p>
                  </a:txBody>
                  <a:tcPr marL="152400" marR="152400" marT="76200" marB="76200">
                    <a:solidFill>
                      <a:srgbClr val="5947B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FFFF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Test</a:t>
                      </a:r>
                    </a:p>
                  </a:txBody>
                  <a:tcPr marL="152400" marR="152400" marT="76200" marB="76200">
                    <a:solidFill>
                      <a:srgbClr val="5947B8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research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98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21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revise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blocked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clarify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280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60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Всего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938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201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02739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201</a:t>
                      </a:r>
                    </a:p>
                  </a:txBody>
                  <a:tcPr marL="152400" marR="152400" marT="76200" marB="762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046D13-7586-4295-AF99-05B55B9B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91175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Seed 42 · Разбиение 70/15/15 · Дубликаты исключены до разбиения</a:t>
            </a:r>
          </a:p>
        </p:txBody>
      </p:sp>
    </p:spTree>
    <p:extLst>
      <p:ext uri="{BB962C8B-B14F-4D97-AF65-F5344CB8AC3E}">
        <p14:creationId xmlns:p14="http://schemas.microsoft.com/office/powerpoint/2010/main" val="64412463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AC169-38AE-4619-B5D7-18E7B5B3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Точность на отложенных данных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3A7780-8B24-4E65-BE42-F6893B40C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Недели 11–12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FAD3EC-0B76-4D17-8AE9-13DE5AED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10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857250" y="1581150"/>
          <a:ext xmlns:a="http://schemas.openxmlformats.org/drawingml/2006/main" cx="104775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d5f00b393fd4791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E04C50-2669-4B55-A55B-892DC613A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Test: 201 примеров. Macro-F1: Байес 0.821, нейросеть 0.988.</a:t>
            </a:r>
          </a:p>
          <a:p xmlns:a="http://schemas.openxmlformats.org/drawingml/2006/main">
            <a:pPr>
              <a:buNone/>
              <a:defRPr sz="187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Измерено воспроизведение правил на синтетических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4594001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082E2F-2516-4F0F-BD12-583586A6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Обучение простой нейросети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6B4E76-9580-4A20-916A-3E9A94332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A64909-7C63-4942-8FD4-CC125C22A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744D90-75C2-40A3-8DC2-34C355E13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08204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75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75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58 входов → 16 скрытых нейронов → 4 класса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8956ED-B668-4BDC-8378-F0B756F51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Архитектура и обучение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FA8C5-7DE6-49FC-9246-3D7E8B5E3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Два бита на факт. tanh/softmax, перекрёстная энтропия, SGD.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D9DF75-E685-4B64-AB8A-3FCCBDEE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Выбор и распознавание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E784B2-DFC0-4905-9203-B7831BE1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2440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100 эпох; лучшая по validation — 23. Веса сохранены в JSON и используются в каждом анализе.</a:t>
            </a:r>
          </a:p>
        </p:txBody>
      </p:sp>
    </p:spTree>
    <p:extLst>
      <p:ext uri="{BB962C8B-B14F-4D97-AF65-F5344CB8AC3E}">
        <p14:creationId xmlns:p14="http://schemas.microsoft.com/office/powerpoint/2010/main" val="1358317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A94E7A6-E271-4666-AC42-046BD9D8F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Объединённая экспертная система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993342-F7CE-48E3-A36A-484E8E660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FF9E33-4449-496E-A0F9-DE1475CF0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D9220C-0F1A-4FAC-965B-F3091C46F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Общий механизм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5ED361-6589-4F40-9073-1C4CF576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База знаний → применимые факты → прямой и обратный вывод.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DEC854-5985-4DAD-8CBD-4EFD77A55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Фреймы, сеть и модели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F2EA0B-B89F-4CEC-A9FD-072E1AF8E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Описание типа, связанные понятия и два обученных классификатора входят в один ответ.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FD4A83-A188-4B9C-BF7E-87DE43A47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Проверяемое решение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0D503A5-75B8-416A-B062-CA0C2F59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Статус задают правила. Расхождение моделей с ними отмечается явно.</a:t>
            </a:r>
          </a:p>
        </p:txBody>
      </p:sp>
    </p:spTree>
    <p:extLst>
      <p:ext uri="{BB962C8B-B14F-4D97-AF65-F5344CB8AC3E}">
        <p14:creationId xmlns:p14="http://schemas.microsoft.com/office/powerpoint/2010/main" val="847289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D163A-38A6-4B16-8BB0-BEB18624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ИИ-помощник в браузере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8B0FAB-A2C2-47EE-964A-B48F07869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DF633C-3025-444B-BB3E-9BD285DC6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1551D6-359C-47F3-BD6F-65B5AE38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71600"/>
            <a:ext cx="108204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Профиль → анализ → объяснение → рекомендации и экспорт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287112e8f48ad"/>
          <a:stretch xmlns:a="http://schemas.openxmlformats.org/drawingml/2006/main"/>
        </p:blipFill>
        <p:spPr>
          <a:xfrm xmlns:a="http://schemas.openxmlformats.org/drawingml/2006/main">
            <a:off x="2523067" y="2019300"/>
            <a:ext cx="7145867" cy="40195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1132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1142D1-3389-4BF9-9B63-0ADFE72BD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Локальная Qwen через llama.cpp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58F8FA-88FB-4557-BBF1-9220FFA65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Модель на этом компьютере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193BF2-DE3E-4BD2-ADB9-927497C14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Qwen3.5-2B, GGUF Q4_K_M. Файл весов 1,28 ГБ, контекст 8192.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F6EC34-CB3D-4F6D-A929-0D81036A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Пояснение текущего разбора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4822E3-53F5-4624-9765-8D611A27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Вкладка «Локальная ИИ»: адрес, проверка сервера, вопрос и экспорт ответа.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21935E-9388-49F0-B6AE-A1159F2D1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Экспертный вывод сохраняется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0F7DE2-E2C1-42B1-9E95-89219DC8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Правила определяют балл и статус. Ответ модели может содержать ошибки.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DAB9D-9BAD-4EEB-84ED-A4E61AF42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6A6168-189E-4DE7-A8B0-3EE5CB515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61742911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9D656A-B284-4A60-A982-B72BD52C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Проверка реализации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6A58A5-B566-438C-A04C-E04EDFEAE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91B40-E20E-413A-8B3F-560633C37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0CCC5A-B7C3-438E-B104-46F4528E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57 автоматических тестов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399D53-D3EF-4DD4-B16D-BCD6C0C11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Логика, фреймы, сеть, модели, метрики, API, числа, алиасы и llama.cpp.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5BC80-AE98-4D4C-9CF8-0BE698606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Ручная проверка интерфейса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F81165-6CF3-424F-AD47-F0F63D775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Алиасы, экспорт, запросы Qwen, отмена и восемь тем на экране 390 px.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F43F71-EED1-4FB3-8472-D9EBC93E3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Воспроизводимый запуск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733E34-AF2E-4586-B26C-B000EDBC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Python 3.10+, demo, week415, unittest. Для Qwen нужен llama-server.</a:t>
            </a:r>
          </a:p>
        </p:txBody>
      </p:sp>
    </p:spTree>
    <p:extLst>
      <p:ext uri="{BB962C8B-B14F-4D97-AF65-F5344CB8AC3E}">
        <p14:creationId xmlns:p14="http://schemas.microsoft.com/office/powerpoint/2010/main" val="197615252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2B93BF-FBCB-485C-81A1-0DC3569B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450" b="1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Защита проекта и ограничения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2294F9-0382-41DF-A3C2-34AEEF17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72200"/>
            <a:ext cx="914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Неделя 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FA3618-823A-4F91-B142-4E81345F1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72200"/>
            <a:ext cx="457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725" b="0">
                <a:solidFill>
                  <a:srgbClr val="586273"/>
                </a:solidFill>
                <a:latin typeface="Helvetica Neue"/>
                <a:ea typeface="Helvetica Neue"/>
                <a:cs typeface="Helvetica Neue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7A5F5B-D253-4021-BA9F-170FA378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Материалы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09E9C-3713-43FA-B614-8C1CDEFF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README, соответствие неделям, код, данные, веса и презентация.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FC828B-48CD-400E-B5F6-81D68187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Показ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CDEE4F-4982-410D-AA27-5B43D23FF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623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week415 → браузер → объяснение правил → модели → экспорт отчёта.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68204B-FB48-43BF-965B-EB3E5B7B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108204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5947B8"/>
                </a:solidFill>
                <a:latin typeface="Helvetica Neue"/>
                <a:ea typeface="Helvetica Neue"/>
                <a:cs typeface="Helvetica Neue"/>
              </a:rPr>
              <a:t>Граница применимости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4BD1F3-152A-45FB-9020-91BD3778F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72050"/>
            <a:ext cx="108204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202739"/>
                </a:solidFill>
                <a:latin typeface="Helvetica Neue"/>
                <a:ea typeface="Helvetica Neue"/>
                <a:cs typeface="Helvetica Neue"/>
              </a:rPr>
              <a:t>Синтетическое обучение и введённые сведения. Цена, доходность и реальная безопасность не прогнозируются.</a:t>
            </a:r>
          </a:p>
        </p:txBody>
      </p:sp>
    </p:spTree>
    <p:extLst>
      <p:ext uri="{BB962C8B-B14F-4D97-AF65-F5344CB8AC3E}">
        <p14:creationId xmlns:p14="http://schemas.microsoft.com/office/powerpoint/2010/main" val="42362699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2026-10-07T09:37:12.7820000Z</dcterms:created>
  <dcterms:modified xsi:type="dcterms:W3CDTF">2026-10-07T09:37:12.7830000Z</dcterms:modified>
</coreProperties>
</file>