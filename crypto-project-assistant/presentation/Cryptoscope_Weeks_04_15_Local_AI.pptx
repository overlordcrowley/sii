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b0e95bbcd34577" /><Relationship Type="http://schemas.openxmlformats.org/officeDocument/2006/relationships/extended-properties" Target="/docProps/app.xml" Id="R8395560403364f9e" /><Relationship Type="http://schemas.openxmlformats.org/officeDocument/2006/relationships/officeDocument" Target="/ppt/presentation.xml" Id="Rea33a3ed953f46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608d7a9b574e20"/>
  </p:sldMasterIdLst>
  <p:notesMasterIdLst>
    <p:notesMasterId xmlns:r="http://schemas.openxmlformats.org/officeDocument/2006/relationships" r:id="Ra0603b75561f4d85"/>
  </p:notesMasterIdLst>
  <p:sldIdLst>
    <p:sldId xmlns:r="http://schemas.openxmlformats.org/officeDocument/2006/relationships" id="256" r:id="R5a840510afd94ea6"/>
    <p:sldId xmlns:r="http://schemas.openxmlformats.org/officeDocument/2006/relationships" id="257" r:id="Rc83af2a569754f36"/>
    <p:sldId xmlns:r="http://schemas.openxmlformats.org/officeDocument/2006/relationships" id="258" r:id="Rd8039cbfd63e44ad"/>
    <p:sldId xmlns:r="http://schemas.openxmlformats.org/officeDocument/2006/relationships" id="259" r:id="R8ce307e59ff74c33"/>
    <p:sldId xmlns:r="http://schemas.openxmlformats.org/officeDocument/2006/relationships" id="260" r:id="Re392dffe75f44b27"/>
    <p:sldId xmlns:r="http://schemas.openxmlformats.org/officeDocument/2006/relationships" id="261" r:id="R5edbd9311f1a4683"/>
    <p:sldId xmlns:r="http://schemas.openxmlformats.org/officeDocument/2006/relationships" id="262" r:id="Rdaa6d6aa115b46b0"/>
    <p:sldId xmlns:r="http://schemas.openxmlformats.org/officeDocument/2006/relationships" id="263" r:id="Rcf3c0b79a2c741f1"/>
    <p:sldId xmlns:r="http://schemas.openxmlformats.org/officeDocument/2006/relationships" id="264" r:id="R3640bab0a0084944"/>
    <p:sldId xmlns:r="http://schemas.openxmlformats.org/officeDocument/2006/relationships" id="265" r:id="R6d7e5a7468b448b3"/>
    <p:sldId xmlns:r="http://schemas.openxmlformats.org/officeDocument/2006/relationships" id="266" r:id="R022d82d5528b48b9"/>
    <p:sldId xmlns:r="http://schemas.openxmlformats.org/officeDocument/2006/relationships" id="267" r:id="R90d49511bbf14774"/>
    <p:sldId xmlns:r="http://schemas.openxmlformats.org/officeDocument/2006/relationships" id="268" r:id="R633100f1055749f2"/>
    <p:sldId xmlns:r="http://schemas.openxmlformats.org/officeDocument/2006/relationships" id="269" r:id="R2dbaaf8d86574dac"/>
    <p:sldId xmlns:r="http://schemas.openxmlformats.org/officeDocument/2006/relationships" id="270" r:id="R425f432cb04549f6"/>
    <p:sldId xmlns:r="http://schemas.openxmlformats.org/officeDocument/2006/relationships" id="271" r:id="R01a3c36d308f4f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ef28e5a11844b5" /><Relationship Type="http://schemas.openxmlformats.org/officeDocument/2006/relationships/slideMaster" Target="/ppt/slideMasters/slideMaster1.xml" Id="R74608d7a9b574e20" /><Relationship Type="http://schemas.openxmlformats.org/officeDocument/2006/relationships/notesMaster" Target="/ppt/notesMasters/notesMaster1.xml" Id="Ra0603b75561f4d85" /><Relationship Type="http://schemas.openxmlformats.org/officeDocument/2006/relationships/presProps" Target="/ppt/presProps.xml" Id="R569491a63573413c" /><Relationship Type="http://schemas.openxmlformats.org/officeDocument/2006/relationships/tableStyles" Target="/ppt/tableStyles.xml" Id="R2dec32f0b0bf4f03" /><Relationship Type="http://schemas.openxmlformats.org/officeDocument/2006/relationships/slide" Target="/ppt/slides/slide1.xml" Id="R5a840510afd94ea6" /><Relationship Type="http://schemas.openxmlformats.org/officeDocument/2006/relationships/slide" Target="/ppt/slides/slide2.xml" Id="Rc83af2a569754f36" /><Relationship Type="http://schemas.openxmlformats.org/officeDocument/2006/relationships/slide" Target="/ppt/slides/slide3.xml" Id="Rd8039cbfd63e44ad" /><Relationship Type="http://schemas.openxmlformats.org/officeDocument/2006/relationships/slide" Target="/ppt/slides/slide4.xml" Id="R8ce307e59ff74c33" /><Relationship Type="http://schemas.openxmlformats.org/officeDocument/2006/relationships/slide" Target="/ppt/slides/slide5.xml" Id="Re392dffe75f44b27" /><Relationship Type="http://schemas.openxmlformats.org/officeDocument/2006/relationships/slide" Target="/ppt/slides/slide6.xml" Id="R5edbd9311f1a4683" /><Relationship Type="http://schemas.openxmlformats.org/officeDocument/2006/relationships/slide" Target="/ppt/slides/slide7.xml" Id="Rdaa6d6aa115b46b0" /><Relationship Type="http://schemas.openxmlformats.org/officeDocument/2006/relationships/slide" Target="/ppt/slides/slide8.xml" Id="Rcf3c0b79a2c741f1" /><Relationship Type="http://schemas.openxmlformats.org/officeDocument/2006/relationships/slide" Target="/ppt/slides/slide9.xml" Id="R3640bab0a0084944" /><Relationship Type="http://schemas.openxmlformats.org/officeDocument/2006/relationships/slide" Target="/ppt/slides/slide10.xml" Id="R6d7e5a7468b448b3" /><Relationship Type="http://schemas.openxmlformats.org/officeDocument/2006/relationships/slide" Target="/ppt/slides/slide11.xml" Id="R022d82d5528b48b9" /><Relationship Type="http://schemas.openxmlformats.org/officeDocument/2006/relationships/slide" Target="/ppt/slides/slide12.xml" Id="R90d49511bbf14774" /><Relationship Type="http://schemas.openxmlformats.org/officeDocument/2006/relationships/slide" Target="/ppt/slides/slide13.xml" Id="R633100f1055749f2" /><Relationship Type="http://schemas.openxmlformats.org/officeDocument/2006/relationships/slide" Target="/ppt/slides/slide14.xml" Id="R2dbaaf8d86574dac" /><Relationship Type="http://schemas.openxmlformats.org/officeDocument/2006/relationships/slide" Target="/ppt/slides/slide15.xml" Id="R425f432cb04549f6" /><Relationship Type="http://schemas.openxmlformats.org/officeDocument/2006/relationships/slide" Target="/ppt/slides/slide16.xml" Id="R01a3c36d308f4f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a47a3f57c04c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27a9b7bbe34b93" /><Relationship Type="http://schemas.openxmlformats.org/officeDocument/2006/relationships/notesMaster" Target="/ppt/notesMasters/notesMaster1.xml" Id="Rf84c8339051246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e85de1549b47aa" /><Relationship Type="http://schemas.openxmlformats.org/officeDocument/2006/relationships/notesMaster" Target="/ppt/notesMasters/notesMaster1.xml" Id="R138aa76e1d1549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2f198f87b7436f" /><Relationship Type="http://schemas.openxmlformats.org/officeDocument/2006/relationships/notesMaster" Target="/ppt/notesMasters/notesMaster1.xml" Id="R380342433fce4c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3959f738d54b75" /><Relationship Type="http://schemas.openxmlformats.org/officeDocument/2006/relationships/notesMaster" Target="/ppt/notesMasters/notesMaster1.xml" Id="R24070249c63142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c3e0dbc07e49a2" /><Relationship Type="http://schemas.openxmlformats.org/officeDocument/2006/relationships/notesMaster" Target="/ppt/notesMasters/notesMaster1.xml" Id="R90bc709b314b4a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2824d08f4a4b90" /><Relationship Type="http://schemas.openxmlformats.org/officeDocument/2006/relationships/notesMaster" Target="/ppt/notesMasters/notesMaster1.xml" Id="Re0e1584dc12d4a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87603e23c14b7f" /><Relationship Type="http://schemas.openxmlformats.org/officeDocument/2006/relationships/notesMaster" Target="/ppt/notesMasters/notesMaster1.xml" Id="R944eb32eb98d4d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c8978fa36d47e2" /><Relationship Type="http://schemas.openxmlformats.org/officeDocument/2006/relationships/notesMaster" Target="/ppt/notesMasters/notesMaster1.xml" Id="R08ee12c1b71d44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972012ee104aef" /><Relationship Type="http://schemas.openxmlformats.org/officeDocument/2006/relationships/notesMaster" Target="/ppt/notesMasters/notesMaster1.xml" Id="R2d9a330eb4e84f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6399f9d44943b6" /><Relationship Type="http://schemas.openxmlformats.org/officeDocument/2006/relationships/notesMaster" Target="/ppt/notesMasters/notesMaster1.xml" Id="R55d4288def1245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87eec6094346c9" /><Relationship Type="http://schemas.openxmlformats.org/officeDocument/2006/relationships/notesMaster" Target="/ppt/notesMasters/notesMaster1.xml" Id="Rae5cf4f6ad1f46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8ff7e14bd24633" /><Relationship Type="http://schemas.openxmlformats.org/officeDocument/2006/relationships/notesMaster" Target="/ppt/notesMasters/notesMaster1.xml" Id="Ra72371378afa49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facc6c424b49ec" /><Relationship Type="http://schemas.openxmlformats.org/officeDocument/2006/relationships/notesMaster" Target="/ppt/notesMasters/notesMaster1.xml" Id="Rfa987898911945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6a77f65f8e424b" /><Relationship Type="http://schemas.openxmlformats.org/officeDocument/2006/relationships/notesMaster" Target="/ppt/notesMasters/notesMaster1.xml" Id="Rd36fe29122a84b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a0e00dd487479d" /><Relationship Type="http://schemas.openxmlformats.org/officeDocument/2006/relationships/notesMaster" Target="/ppt/notesMasters/notesMaster1.xml" Id="Rf8dca1793ac74f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34ebaa84a14b5a" /><Relationship Type="http://schemas.openxmlformats.org/officeDocument/2006/relationships/notesMaster" Target="/ppt/notesMasters/notesMaster1.xml" Id="R58ccb2138cdf45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Представиться: Кораблев Максим Игоревич, Б-ИС 24/23 Р. Версия материалов — 14 октября 2026 года. Система исследует полноту введённых сведений. Текущий план студента — недели 4–9; полный проект содержит дополнительные модули. Проведение защиты и оценка подтверждаются преподавателем отдельно.</a:t>
            </a:r>
          </a:p>
          <a:p xmlns:a="http://schemas.openxmlformats.org/drawingml/2006/main">
            <a:r>
              <a:t>Источник: исходный код текущего проекта; docs/WEEKS_04_09.md; https://github.com/OverlordCrowley/SII. Локальная версия может быть новее опубликованной.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Неделя 4. Показать data/knowledge.json: criteria — определения вопросов, rules — условия и заключения, frames — типы объектов, network — карта понятий. Конкретные ответы true/false/null находятся в профиле пользователя, а не в определениях критериев. В базе 26 критериев, 28 правил, 6 типов фреймов, 22 узла и 21 связь. Команда: python3 -m project_assistant network path project unlocks. Ожидается путь project → token → supply → vesting → unlocks из четырёх связей. Ребро о токене описывает предметную область и не утверждает его наличие у каждого проекта. Публикацию последних локальных изменений на GitHub проверять отдельно.</a:t>
            </a:r>
          </a:p>
          <a:p xmlns:a="http://schemas.openxmlformats.org/drawingml/2006/main">
            <a:r>
              <a:t>Источник: исходный код текущего проекта; docs/WEEKS_04_09.md; https://github.com/OverlordCrowley/SII. Локальная версия может быть новее опубликованной.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Неделя 5. logic.py: LogicalEngine.query() и explain(). Обратный вывод начинает с цели security_gap и ищет правило, способное её доказать. R16 требует двух явных отрицательных фактов audit_available=false и admin_controls_known=false. NOT false истинно; обе посылки AND подтверждены. Если факты не заданы, цель не доказана. Команда python3 -m project_assistant week48 показывает эту проверку. Фраза: я записал факты и правила и реализовал проверку цели по их посылкам.</a:t>
            </a:r>
          </a:p>
          <a:p xmlns:a="http://schemas.openxmlformats.org/drawingml/2006/main">
            <a:r>
              <a:t>Источник: исходный код текущего проекта; docs/WEEKS_04_09.md; https://github.com/OverlordCrowley/SII. Локальная версия может быть новее опубликованной.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Неделя 6. logic.py: parse(), evaluate_node(), truth_table(), support_atoms(); assistant.py: proof_lines(). Приоритет NOT, затем AND, затем OR; скобки меняют порядок. Факты имеют состояния Да, Нет и Неизвестно; профильный null исключается из рабочей памяти и даёт неизвестность. NOT unknown остаётся unknown. false AND unknown=false; true OR unknown=true. R13: has_token AND (NOT vesting_disclosed OR NOT unlock_schedule_known). При токене и явном vesting=false достаточна одна ветвь OR. Объяснение показывает правило и достаточные посылки. Команда python3 -m project_assistant week56. NOT допускается только над исходными фактами.</a:t>
            </a:r>
          </a:p>
          <a:p xmlns:a="http://schemas.openxmlformats.org/drawingml/2006/main">
            <a:r>
              <a:t>Источник: исходный код текущего проекта; docs/WEEKS_04_09.md; https://github.com/OverlordCrowley/SII. Локальная версия может быть новее опубликованной.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Неделя 7. production.py: ProductionEngine.run(). Рабочая память начинается с исходных фактов. Правила упорядочены по приоритету и ID, истинные заключения добавляются в память. Цикл продолжается до отсутствия новых фактов. trace хранит шаг, условие, посылки и заключение. На ready.json срабатывают R01–R05 и затем R06; последний выводит research_ready. expert.py сверяет каждое заключение обратным выводом. Фраза: прямой вывод идёт от фактов к доступным заключениям; обратный — от выбранной цели к посылкам.</a:t>
            </a:r>
          </a:p>
          <a:p xmlns:a="http://schemas.openxmlformats.org/drawingml/2006/main">
            <a:r>
              <a:t>Источник: исходный код текущего проекта; docs/WEEKS_04_09.md; https://github.com/OverlordCrowley/SII. Локальная версия может быть новее опубликованной.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Неделя 8. frames.py: FrameStore.describe(), create(), get(), set(). Фрейм содержит parent и slots. crypto_project задаёт quote_currency=USD, метод и требования к источникам. defi добавляет focus и security_focus; конкретный demo_protocol наследует значения по цепочке. origins показывает родителя каждого слота. Локальное переопределение focus не изменяет родителя. Циклы и отсутствующие родители отклоняются. week48 выполняет пример без сохранения в пользовательское состояние. Изменение фрейма меняет описание объекта, а не продукционные правила и веса балла.</a:t>
            </a:r>
          </a:p>
          <a:p xmlns:a="http://schemas.openxmlformats.org/drawingml/2006/main">
            <a:r>
              <a:t>Источник: исходный код текущего проекта; docs/WEEKS_04_09.md; https://github.com/OverlordCrowley/SII. Локальная версия может быть новее опубликованной.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Неделя 9. Выполнять из crypto-project-assistant. Сначала создать новый учебный файл demo-frames.json; create для одного имени выполнить один раз. Полные команды:</a:t>
            </a:r>
          </a:p>
          <a:p xmlns:a="http://schemas.openxmlformats.org/drawingml/2006/main">
            <a:r>
              <a:t>python3 -m project_assistant frame --state demo-frames.json create my_protocol defi</a:t>
            </a:r>
          </a:p>
          <a:p xmlns:a="http://schemas.openxmlformats.org/drawingml/2006/main">
            <a:r>
              <a:t>python3 -m project_assistant frame --state demo-frames.json set my_protocol reviewed true</a:t>
            </a:r>
          </a:p>
          <a:p xmlns:a="http://schemas.openxmlformats.org/drawingml/2006/main">
            <a:r>
              <a:t>python3 -m project_assistant frame --state demo-frames.json find reviewed true</a:t>
            </a:r>
          </a:p>
          <a:p xmlns:a="http://schemas.openxmlformats.org/drawingml/2006/main">
            <a:r>
              <a:t>python3 -m project_assistant frame --state demo-frames.json show my_protocol</a:t>
            </a:r>
          </a:p>
          <a:p xmlns:a="http://schemas.openxmlformats.org/drawingml/2006/main">
            <a:r>
              <a:t>Ожидается my_protocol в результате find, reviewed=true и унаследованный quote_currency=USD в show. workbench.py вызывает FrameStore; файл заново загружается каждой командой. Поиск учитывает наследование и тип JSON-значения. Без --state изменения находятся в .state/frames.json; браузерный сервер перезапустить после редактирования. Веб-редактора фреймов нет. reviewed — учебное свойство, а не критерий анкеты. Подробности: docs/WEEKS_04_09.md.</a:t>
            </a:r>
          </a:p>
          <a:p xmlns:a="http://schemas.openxmlformats.org/drawingml/2006/main">
            <a:r>
              <a:t>Источник: исходный код текущего проекта; docs/WEEKS_04_09.md; https://github.com/OverlordCrowley/SII. Локальная версия может быть новее опубликованной.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network.py. network add-node/add-edge/related/path. Показать направленный путь к unlocks и обратный с --undirected.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dataset.py и dataset.metadata.json. Уникальные эффективные векторы: нет одинаковых входов в разных split. Метки — правила, не рыночные исходы.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models/metrics.json. Test 201; baseline самый частый train-класс. Bayes accuracy и MLP accuracy. Не оценка реальных монет.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ml.py. SGD и backpropagation; минимальная validation cross-entropy, выбранная эпоха 23. Test не выбирает параметры.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expert.py + assistant.py. Единая база, два механизма вывода, сохранённые фреймы и сеть; ModelStore получает те же применимые исходные факты.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снимок ручного теста docs/manual-qa-2026-10-07/models-desktop.png. Также CLI ask/analyze; ввод Bitcoin/BTC; экспорт Markdown/JSON.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Версия 14 октября 2026 года. local_ai_runtime.py автоматически запускает Qwen на 8081 и дожидается готовности до интерфейса 8765. Нужны llama-server и .build/local-ai/Qwen3.5-2B-Q4_K_M.gguf. Внешний готовый сервер используется повторно; собственный останавливается при Ctrl+C. local_ai.py запрашивает JSON-выбор пунктов; explanations.py проверяет тему, восстанавливает пропущенные пункты и составляет пояснение по экспертным фактам. Показать вопрос «Как рассчитаны 20% ближайшей разблокировки?»: 2000000 / 10000000 × 100% = 20%. Можно спросить о несработавшем R13 на полном профиле. Неизвестная тема вызывает уточнение. Qwen готовая модель, собственные Bayes/MLP обучаются отдельно. Источники: project_assistant/local_ai_runtime.py, local_ai.py, explanations.py; docs/LOCAL_AI.md, 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 октября 2026 года повторно прошли 84 теста Python и 14 тестов интерфейса. Команды: python3 -m unittest discover -s tests -v; node --test tests/frontend.test.cjs. week415 проверяет вывод, временные фреймы/сеть, сохранение, интеграцию и метрики. Проверки настоящей Qwen: 26 сценариев подбора (21 генерация, 5 маршрутов без генерации) и 3 генерации на числовых границах. Автозапуск на 8081, освобождение портов и повторный запуск проверены на реальном процессе. Удалённый CI и проведение защиты не подтверждаются локальными тестами. Источник: docs/VALIDATION.md, tests/, .github/workflows/tests.yml.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Текущий учебный этап: docs/WEEKS_04_09.md и отдельная презентация 4–9. Материалы обновлены локально; коммит и публикация на GitHub выполняются отдельно. Наличие кода и слайдов не подтверждает выступление или оценку. Основной показ: week48 и команды frame; для полного семестра week415. Данные синтетические, внешние источники не проверяются автоматически, веса и пороги учебные. Источник: docs/DEFENSE.md, WEEKS_04_09.md, 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a79ee7d9749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a67453184f40ca" /><Relationship Type="http://schemas.openxmlformats.org/officeDocument/2006/relationships/slideLayout" Target="/ppt/slideLayouts/slideLayout1.xml" Id="Rd3000e650c7645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000e650c7645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9ed1a43e24140" /><Relationship Type="http://schemas.openxmlformats.org/officeDocument/2006/relationships/notesSlide" Target="/ppt/notesSlides/notesSlide1.xml" Id="Rb6ad8a9d01834f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a69ff7e924e16" /><Relationship Type="http://schemas.openxmlformats.org/officeDocument/2006/relationships/notesSlide" Target="/ppt/notesSlides/notesSlide2.xml" Id="R40a3ce82758e42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987a6910c4a9b" /><Relationship Type="http://schemas.openxmlformats.org/officeDocument/2006/relationships/notesSlide" Target="/ppt/notesSlides/notesSlide3.xml" Id="Rddd26b91304747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3960914264af2" /><Relationship Type="http://schemas.openxmlformats.org/officeDocument/2006/relationships/notesSlide" Target="/ppt/notesSlides/notesSlide4.xml" Id="R5832f0b651ef41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dd24af6d94794" /><Relationship Type="http://schemas.openxmlformats.org/officeDocument/2006/relationships/notesSlide" Target="/ppt/notesSlides/notesSlide5.xml" Id="R7176c4c098dc41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cc5700ed942e7" /><Relationship Type="http://schemas.openxmlformats.org/officeDocument/2006/relationships/notesSlide" Target="/ppt/notesSlides/notesSlide6.xml" Id="Rf93c5a775bf64a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16c81fb2d4e8a" /><Relationship Type="http://schemas.openxmlformats.org/officeDocument/2006/relationships/notesSlide" Target="/ppt/notesSlides/notesSlide7.xml" Id="R510ee4b1e55e4d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1fc57c9fa4b40" /><Relationship Type="http://schemas.openxmlformats.org/officeDocument/2006/relationships/notesSlide" Target="/ppt/notesSlides/notesSlide8.xml" Id="R39555bc62e9249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9ac2384844de4" /><Relationship Type="http://schemas.openxmlformats.org/officeDocument/2006/relationships/notesSlide" Target="/ppt/notesSlides/notesSlide9.xml" Id="Rbe652529193d45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5061de41e4dd1" /><Relationship Type="http://schemas.openxmlformats.org/officeDocument/2006/relationships/chart" Target="/ppt/slides/charts/chart1.xml" Id="R9062b48ae5004d36" /><Relationship Type="http://schemas.openxmlformats.org/officeDocument/2006/relationships/notesSlide" Target="/ppt/notesSlides/notesSlide10.xml" Id="Re2e3be91c8f843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be64d4a2c4cce" /><Relationship Type="http://schemas.openxmlformats.org/officeDocument/2006/relationships/notesSlide" Target="/ppt/notesSlides/notesSlide11.xml" Id="R4aee63ec47cb45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77a2eb2db43e7" /><Relationship Type="http://schemas.openxmlformats.org/officeDocument/2006/relationships/notesSlide" Target="/ppt/notesSlides/notesSlide12.xml" Id="R94dd0a02a67449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1f318c4eb40b4" /><Relationship Type="http://schemas.openxmlformats.org/officeDocument/2006/relationships/image" Target="/ppt/media/image.jpeg" Id="R36147e83af5e472e" /><Relationship Type="http://schemas.openxmlformats.org/officeDocument/2006/relationships/notesSlide" Target="/ppt/notesSlides/notesSlide13.xml" Id="R87f892d1c36845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5e39faa084bd7" /><Relationship Type="http://schemas.openxmlformats.org/officeDocument/2006/relationships/notesSlide" Target="/ppt/notesSlides/notesSlide14.xml" Id="Rc78896ce83dd42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38bd5e72f47ce" /><Relationship Type="http://schemas.openxmlformats.org/officeDocument/2006/relationships/notesSlide" Target="/ppt/notesSlides/notesSlide15.xml" Id="R8b8c3e42dfed4c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e383f32694e5f" /><Relationship Type="http://schemas.openxmlformats.org/officeDocument/2006/relationships/notesSlide" Target="/ppt/notesSlides/notesSlide16.xml" Id="R2a76caa662ad452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ns1="http://schemas.openxmlformats.org/drawingml/2006/main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accuracy</c:v>
          </c:tx>
          <c:spPr>
            <ns1:solidFill>
              <ns1:srgbClr val="5947B8"/>
            </ns1:solidFill>
          </c:spPr>
          <c:cat>
            <c:strRef>
              <c:f>'Chart Data'!$A$2:$A$4</c:f>
              <c:strCache>
                <c:ptCount val="3"/>
                <c:pt idx="0">
                  <c:v>Частый класс</c:v>
                </c:pt>
                <c:pt idx="1">
                  <c:v>Наивный Байес</c:v>
                </c:pt>
                <c:pt idx="2">
                  <c:v>Нейросеть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0.2985</c:v>
                </c:pt>
                <c:pt idx="1">
                  <c:v>0.8109</c:v>
                </c:pt>
                <c:pt idx="2">
                  <c:v>0.99</c:v>
                </c:pt>
              </c:numCache>
            </c:numRef>
          </c:val>
        </c:ser>
        <c:dLbls>
          <c:txPr>
            <ns1:bodyPr anchorCtr="1"/>
            <ns1:lstStyle/>
            <ns1:p>
              <ns1:pPr>
                <ns1:defRPr sz="2025" b="1">
                  <ns1:solidFill>
                    <ns1:srgbClr val="202739"/>
                  </ns1:solidFill>
                  <ns1:latin typeface="Helvetica Neue"/>
                  <ns1:ea typeface="Helvetica Neue"/>
                  <ns1:cs typeface="Helvetica Neue"/>
                </ns1:defRPr>
              </ns1:pPr>
            </ns1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 sz="1950">
                <ns1:solidFill>
                  <ns1:srgbClr val="202739"/>
                </ns1:solidFill>
                <ns1:latin typeface="Helvetica Neue"/>
                <ns1:ea typeface="Helvetica Neue"/>
                <ns1:cs typeface="Helvetica Neue"/>
              </ns1:defRPr>
            </ns1:pPr>
          </ns1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ns1:ln w="9525">
              <ns1:solidFill>
                <ns1:srgbClr val="E4E7ED"/>
              </ns1:solidFill>
            </ns1:ln>
          </c:spPr>
        </c:majorGridlines>
        <c:numFmt formatCode="0%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 sz="1875">
                <ns1:solidFill>
                  <ns1:srgbClr val="586273"/>
                </ns1:solidFill>
                <ns1:latin typeface="Helvetica Neue"/>
                <ns1:ea typeface="Helvetica Neue"/>
                <ns1:cs typeface="Helvetica Neue"/>
              </ns1:defRPr>
            </ns1:pPr>
          </ns1:p>
        </c:txPr>
        <c:crossAx val="48650112"/>
        <c:crossBetween val="between"/>
        <c:majorUnit val="0.25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7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C2958-04FA-43D6-A306-F6E0F262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Криптоскоп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F4614-B4C1-4D85-BC80-D472CD05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00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ИИ-помощник для исследования</a:t>
            </a:r>
          </a:p>
          <a:p xmlns:a="http://schemas.openxmlformats.org/drawingml/2006/main">
            <a:pPr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криптопроектов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C4F31-8F5C-41B9-B1E8-2BA79F42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DED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ED9F7"/>
                </a:solidFill>
                <a:latin typeface="Helvetica Neue"/>
                <a:ea typeface="Helvetica Neue"/>
                <a:cs typeface="Helvetica Neue"/>
              </a:rPr>
              <a:t>Кораблев Максим Игоревич</a:t>
            </a:r>
          </a:p>
          <a:p xmlns:a="http://schemas.openxmlformats.org/drawingml/2006/main">
            <a:pPr>
              <a:buNone/>
              <a:defRPr sz="2100" b="0">
                <a:solidFill>
                  <a:srgbClr val="DED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ED9F7"/>
                </a:solidFill>
                <a:latin typeface="Helvetica Neue"/>
                <a:ea typeface="Helvetica Neue"/>
                <a:cs typeface="Helvetica Neue"/>
              </a:rPr>
              <a:t>Б-ИС 24/23 Р · План недель 4–15</a:t>
            </a:r>
          </a:p>
        </p:txBody>
      </p:sp>
    </p:spTree>
    <p:extLst>
      <p:ext uri="{BB962C8B-B14F-4D97-AF65-F5344CB8AC3E}">
        <p14:creationId xmlns:p14="http://schemas.microsoft.com/office/powerpoint/2010/main" val="750277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54788-7241-447E-A49D-9AA2236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Предметная область и база знаний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D17C0-946C-4448-8174-5E5F6E3B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DB018-AA2F-41BD-A617-E765BD18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B30A6-49D2-4EE2-BA40-A094F0AC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Задача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D16EC-9A1A-4381-B1E1-44503D50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Исследовать полноту сведений о продукте, токене и безопасности.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494E6-4077-4ADC-AA62-B1A003FB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Редактируемая база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C8419-B88F-44BA-9AFC-9657DF6E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26 критериев · 28 правил · 6 типов фреймов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D5E24-155A-4895-9523-637AA121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Семантическая сеть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AB0AF-73CA-48E6-A979-369B1C13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22 понятия и 21 направленная связь. Репозиторий: OverlordCrowley/SII.</a:t>
            </a:r>
          </a:p>
        </p:txBody>
      </p:sp>
    </p:spTree>
    <p:extLst>
      <p:ext uri="{BB962C8B-B14F-4D97-AF65-F5344CB8AC3E}">
        <p14:creationId xmlns:p14="http://schemas.microsoft.com/office/powerpoint/2010/main" val="1620424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7BC0A-FDEB-47EE-B743-A172D320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Факты и логический вывод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02023-4CAB-4AAB-828E-FAF2E8F0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E73CE-E2FA-4AD8-9998-DED2C0B2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12038-2C87-49CC-9244-5483CD85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audit_available = false</a:t>
            </a:r>
          </a:p>
          <a:p xmlns:a="http://schemas.openxmlformats.org/drawingml/2006/main">
            <a:pPr>
              <a:buNone/>
              <a:defRPr sz="25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admin_controls_known = false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DCE63-7165-4623-AABE-54132E67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R16: NOT audit_available AND NOT admin_controls_known</a:t>
            </a:r>
          </a:p>
          <a:p xmlns:a="http://schemas.openxmlformats.org/drawingml/2006/main">
            <a:pPr>
              <a:buNone/>
              <a:defRPr sz="2400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⇒ security_gap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CBCC9-0C1A-4C89-8332-57053D38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Обратный вывод проверяет посылки цели.</a:t>
            </a:r>
          </a:p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Неизвестный факт сохраняет значение «неизвестно».</a:t>
            </a:r>
          </a:p>
        </p:txBody>
      </p:sp>
    </p:spTree>
    <p:extLst>
      <p:ext uri="{BB962C8B-B14F-4D97-AF65-F5344CB8AC3E}">
        <p14:creationId xmlns:p14="http://schemas.microsoft.com/office/powerpoint/2010/main" val="1811690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18720-8050-47C4-8EEB-4F2626E7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AND, OR, NOT и объяснение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23BAA-58E3-4441-B710-0AD3AC7B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60DC5-51E0-4458-9196-42A0B5F3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F3036-5F42-4DE0-9CF7-78275B14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AND и 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70A27-5870-4AFF-9790-1D099AAC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AND — все условия; OR — хотя бы одно условие.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C3156-6FB0-4806-A54B-770FF172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NOT и неизвестность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8CC89-CC77-4E3F-8401-C520DF85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Нет данных ≠ «Нет». NOT unknown = unknown.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7528F-B35C-4911-AE8D-4845952E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Почему сработало правило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B9C9A-2072-4624-AA00-6F373FA6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Дерево показывает правило и посылки. Для OR — достаточную ветвь.</a:t>
            </a:r>
          </a:p>
        </p:txBody>
      </p:sp>
    </p:spTree>
    <p:extLst>
      <p:ext uri="{BB962C8B-B14F-4D97-AF65-F5344CB8AC3E}">
        <p14:creationId xmlns:p14="http://schemas.microsoft.com/office/powerpoint/2010/main" val="764202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8DBC7-3807-4E11-8237-800690CD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Продукционная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E74B2-9572-4085-892B-26EC5552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DFB46-4D71-440D-A910-BC7D4F1C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77D78-575E-4E9D-8382-28685532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Исходные факты → R01–R05</a:t>
            </a:r>
          </a:p>
          <a:p xmlns:a="http://schemas.openxmlformats.org/drawingml/2006/main">
            <a:pPr>
              <a:buNone/>
              <a:def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→ промежуточные заключения → R06</a:t>
            </a:r>
          </a:p>
          <a:p xmlns:a="http://schemas.openxmlformats.org/drawingml/2006/main">
            <a:pPr>
              <a:buNone/>
              <a:def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→ research_ready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7BD38-113F-45FF-9310-498AA8C0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Правила применяются, пока появляются новые факты.</a:t>
            </a:r>
          </a:p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Трасса хранит шаг, условие и посылки.</a:t>
            </a:r>
          </a:p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Обратный вывод подтверждает каждый полученный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103770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E5DDF-A133-4E5B-918F-FA70B7A8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Фреймы и наследование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F0AF5-9C44-4964-9388-C4D656B8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65064-03A2-493F-909A-56ADBC5E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13C20-F546-492F-BB9F-4CDE820C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crypto_project → defi → demo_protocol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41232-3E7B-4BF5-80EF-B62B1CC4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Наследуемые свойства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57D56-D3E8-4523-B54E-69900C7E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quote_currency = USD; требования к источникам — из crypto_project.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A9660-8332-4097-8C3B-91771B64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Локальное переопределение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8A4DC-3429-45F9-920A-1C102D42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focus у demo_protocol меняется отдельно. Происхождение каждого слота видно.</a:t>
            </a:r>
          </a:p>
        </p:txBody>
      </p:sp>
    </p:spTree>
    <p:extLst>
      <p:ext uri="{BB962C8B-B14F-4D97-AF65-F5344CB8AC3E}">
        <p14:creationId xmlns:p14="http://schemas.microsoft.com/office/powerpoint/2010/main" val="1729196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082E0-313A-49D8-A0DC-F7DF45EE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Поиск и изменение фреймов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F1CA4-FCA0-41A3-9028-1BE99FF2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8089C-70C0-4A2B-B374-03CD6F37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45851-A6E0-423A-9F48-5D715342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frame --state demo-frames.json create my_protocol defi</a:t>
            </a:r>
          </a:p>
          <a:p xmlns:a="http://schemas.openxmlformats.org/drawingml/2006/main">
            <a:pPr>
              <a:buNone/>
              <a:def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frame --state demo-frames.json set my_protocol reviewed true</a:t>
            </a:r>
          </a:p>
          <a:p xmlns:a="http://schemas.openxmlformats.org/drawingml/2006/main">
            <a:pPr>
              <a:buNone/>
              <a:def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frame --state demo-frames.json find reviewed true</a:t>
            </a:r>
          </a:p>
          <a:p xmlns:a="http://schemas.openxmlformats.org/drawingml/2006/main">
            <a:pPr>
              <a:buNone/>
              <a:def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frame --state demo-frames.json show my_protocol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BEB7A-DF0D-4283-BDD1-8982A6F9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Перед командами: python3 -m project_assistant</a:t>
            </a:r>
          </a:p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Поиск учитывает наследование; JSON сохраняется между запусками.</a:t>
            </a:r>
          </a:p>
        </p:txBody>
      </p:sp>
    </p:spTree>
    <p:extLst>
      <p:ext uri="{BB962C8B-B14F-4D97-AF65-F5344CB8AC3E}">
        <p14:creationId xmlns:p14="http://schemas.microsoft.com/office/powerpoint/2010/main" val="455726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97E7D-EB87-4ECF-A3C4-838CE709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Семантическая сеть и поиск BFS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BB9CD-4055-4A26-BAA1-22B5DB63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3C598-48DE-4009-AEC7-3CA81E07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F1FD2-82D3-4F4F-969A-F552546A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project → token → supply → vesting → unlocks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B36FC-CBB5-430D-9B35-685CA2CC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Добавление узлов и типизированных связей.</a:t>
            </a:r>
          </a:p>
          <a:p xmlns:a="http://schemas.openxmlformats.org/drawingml/2006/main">
            <a:pPr>
              <a:buNone/>
              <a:defRPr sz="23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Поиск связанных объектов по глубине и отношению.</a:t>
            </a:r>
          </a:p>
          <a:p xmlns:a="http://schemas.openxmlformats.org/drawingml/2006/main">
            <a:pPr>
              <a:buNone/>
              <a:defRPr sz="23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Кратчайший путь с учётом направления.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0C001-9AB8-4AB2-94BE-53222A3A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Сеть сохраняется в .state/network.json.</a:t>
            </a:r>
          </a:p>
        </p:txBody>
      </p:sp>
    </p:spTree>
    <p:extLst>
      <p:ext uri="{BB962C8B-B14F-4D97-AF65-F5344CB8AC3E}">
        <p14:creationId xmlns:p14="http://schemas.microsoft.com/office/powerpoint/2010/main" val="13660406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5D84F-6B6F-4741-8C75-4E6BA10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Синтетический датасет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3683C-7554-4232-A1C0-40AB5323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29E81-64ED-40F3-9031-9F769352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AB13F-C955-4A08-B45B-25D5394A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1340 уникальных примеров. Метки получены из экспертных правил.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8A44D-49DC-424C-B510-D8EEE5494657}"/>
              </a:ext>
            </a:extLst>
          </p:cNvPr>
          <p:cNvGraphicFramePr/>
          <p:nvPr/>
        </p:nvGraphicFramePr>
        <p:xfrm>
          <a:off xmlns:a="http://schemas.openxmlformats.org/drawingml/2006/main" x="685800" y="2362200"/>
          <a:ext xmlns:a="http://schemas.openxmlformats.org/drawingml/2006/main" cx="108204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2095500"/>
                <a:gridCol w="2152650"/>
                <a:gridCol w="2095500"/>
              </a:tblGrid>
              <a:tr h="5143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Класс</a:t>
                      </a:r>
                    </a:p>
                  </a:txBody>
                  <a:tcPr marL="152400" marR="152400" marT="76200" marB="76200">
                    <a:solidFill>
                      <a:srgbClr val="5947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</a:t>
                      </a:r>
                    </a:p>
                  </a:txBody>
                  <a:tcPr marL="152400" marR="152400" marT="76200" marB="76200">
                    <a:solidFill>
                      <a:srgbClr val="5947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</a:t>
                      </a:r>
                    </a:p>
                  </a:txBody>
                  <a:tcPr marL="152400" marR="152400" marT="76200" marB="76200">
                    <a:solidFill>
                      <a:srgbClr val="5947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152400" marR="152400" marT="76200" marB="76200">
                    <a:solidFill>
                      <a:srgbClr val="5947B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revise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blocked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clarify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Всего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938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201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201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46D13-7586-4295-AF99-05B55B9B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Seed 42 · Разбиение 70/15/15 · Дубликаты исключены до разбиения</a:t>
            </a:r>
          </a:p>
        </p:txBody>
      </p:sp>
    </p:spTree>
    <p:extLst>
      <p:ext uri="{BB962C8B-B14F-4D97-AF65-F5344CB8AC3E}">
        <p14:creationId xmlns:p14="http://schemas.microsoft.com/office/powerpoint/2010/main" val="6441246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AC169-38AE-4619-B5D7-18E7B5B3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Точность на отложенных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A7780-8B24-4E65-BE42-F6893B40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Недели 11–12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AD3EC-0B76-4D17-8AE9-13DE5AED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4D6B0F8D-E13B-4AB7-A032-757FCF8D68AA}"/>
              </a:ext>
            </a:extLst>
          </p:cNvPr>
          <p:cNvGraphicFramePr/>
          <p:nvPr/>
        </p:nvGraphicFramePr>
        <p:xfrm>
          <a:off xmlns:a="http://schemas.openxmlformats.org/drawingml/2006/main" x="857250" y="1581150"/>
          <a:ext xmlns:a="http://schemas.openxmlformats.org/drawingml/2006/main" cx="1047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62b48ae5004d3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04C50-2669-4B55-A55B-892DC61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Test: 201 примеров. Macro-F1: Байес 0.821, нейросеть 0.988.</a:t>
            </a:r>
          </a:p>
          <a:p xmlns:a="http://schemas.openxmlformats.org/drawingml/2006/main">
            <a:pPr>
              <a:buNone/>
              <a:defRPr sz="187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Измерено воспроизведение правил на синтетических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4594001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82E2F-2516-4F0F-BD12-583586A6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Обучение простой нейросети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B4E76-9580-4A20-916A-3E9A9433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64909-7C63-4942-8FD4-CC125C22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44D90-75C2-40A3-8DC2-34C355E1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58 входов → 16 скрытых нейронов → 4 класса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956ED-B668-4BDC-8378-F0B756F5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Архитектура и обучение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FA8C5-7DE6-49FC-9246-3D7E8B5E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Два бита на факт. tanh/softmax, перекрёстная энтропия, SGD.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9DF75-E685-4B64-AB8A-3FCCBDEE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Выбор и распознавание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784B2-DFC0-4905-9203-B7831BE1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100 эпох; лучшая по validation — 23. Веса сохранены в JSON и используются в каждом анализе.</a:t>
            </a:r>
          </a:p>
        </p:txBody>
      </p:sp>
    </p:spTree>
    <p:extLst>
      <p:ext uri="{BB962C8B-B14F-4D97-AF65-F5344CB8AC3E}">
        <p14:creationId xmlns:p14="http://schemas.microsoft.com/office/powerpoint/2010/main" val="1358317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4E7A6-E271-4666-AC42-046BD9D8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Объединённая экспертная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93342-F7CE-48E3-A36A-484E8E66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F9E33-4449-496E-A0F9-DE1475CF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9220C-0F1A-4FAC-965B-F3091C46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Общий механизм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ED361-6589-4F40-9073-1C4CF576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База знаний → применимые факты → прямой и обратный вывод.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EC854-5985-4DAD-8CBD-4EFD77A5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Фреймы, сеть и 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2EA0B-B89F-4CEC-A9FD-072E1AF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Описание типа, связанные понятия и два обученных классификатора входят в один ответ.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D4A83-A188-4B9C-BF7E-87DE43A4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Проверяемое решение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503A5-75B8-416A-B062-CA0C2F59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Статус задают правила. Расхождение моделей с ними отмечается явно.</a:t>
            </a:r>
          </a:p>
        </p:txBody>
      </p:sp>
    </p:spTree>
    <p:extLst>
      <p:ext uri="{BB962C8B-B14F-4D97-AF65-F5344CB8AC3E}">
        <p14:creationId xmlns:p14="http://schemas.microsoft.com/office/powerpoint/2010/main" val="847289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D163A-38A6-4B16-8BB0-BEB18624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ИИ-помощник в браузере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B0FAB-A2C2-47EE-964A-B48F0786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F633C-3025-444B-BB3E-9BD285DC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551D6-359C-47F3-BD6F-65B5AE38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Профиль → анализ → объяснение → рекомендации и экспорт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9437B-ED6C-4D70-9D97-D4B7E6F47D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47e83af5e472e"/>
          <a:stretch xmlns:a="http://schemas.openxmlformats.org/drawingml/2006/main"/>
        </p:blipFill>
        <p:spPr>
          <a:xfrm xmlns:a="http://schemas.openxmlformats.org/drawingml/2006/main">
            <a:off x="2523067" y="2019300"/>
            <a:ext cx="7145867" cy="401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32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142D1-3389-4BF9-9B63-0ADFE72B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Локальная Qwen через llama.cpp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8F8FA-88FB-4557-BBF1-9220FFA6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Автозапуск при старте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93BF2-DE3E-4BD2-ADB9-927497C1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Qwen3.5-2B на 8081; интерфейс на 8765 после готовности.</a:t>
            </a:r>
          </a:p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GGUF Q4_K_M, 1,28 ГБ; контекст 8192.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6EC34-CB3D-4F6D-A929-0D81036A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Ответ по заданному вопросу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822E3-53F5-4624-9765-8D611A27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Qwen выбирает идентификаторы. Сервер проверяет темы</a:t>
            </a:r>
          </a:p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и формирует пояснение из экспертного разбора.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1935E-9388-49F0-B6AE-A1159F2D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Факты, балл и статус сохраняются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F7DE2-E2C1-42B1-9E95-89219DC8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Показываются условия правил, формулы и пороги.</a:t>
            </a:r>
          </a:p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Нераспознанный вопрос требует уточнения.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DAB9D-9BAD-4EEB-84ED-A4E61AF4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A6168-189E-4DE7-A8B0-3EE5CB51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174291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D656A-B284-4A60-A982-B72BD52C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Проверка реализации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A58A5-B566-438C-A04C-E04EDFEA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91B40-E20E-413A-8B3F-560633C3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CCC5A-B7C3-438E-B104-46F4528E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84 теста Python и 14 тестов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99D53-D3EF-4DD4-B16D-BCD6C0C1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Вывод, фреймы, модели, API, подбор по вопросу,</a:t>
            </a:r>
          </a:p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числовые границы и автозапуск Qwen.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5BC80-AE98-4D4C-9CF8-0BE69860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Проверка настоящей 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81165-6CF3-424F-AD47-F0F63D77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Ответ Qwen на 8081; остановка освобождает порты.</a:t>
            </a:r>
          </a:p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Повторный запуск автоматически восстанавливает модель.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43F71-EED1-4FB3-8472-D9EBC93E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Команды и материалы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33E34-AF2E-4586-B26C-B000EDBC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week48 + команды frame — недели 4–9; week415 — полный показ.</a:t>
            </a:r>
          </a:p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Подготовка материалов не подтверждает проведённую защиту.</a:t>
            </a:r>
          </a:p>
        </p:txBody>
      </p:sp>
    </p:spTree>
    <p:extLst>
      <p:ext uri="{BB962C8B-B14F-4D97-AF65-F5344CB8AC3E}">
        <p14:creationId xmlns:p14="http://schemas.microsoft.com/office/powerpoint/2010/main" val="19761525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B93BF-FBCB-485C-81A1-0DC3569B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Защита проекта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294F9-0382-41DF-A3C2-34AEEF17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A3618-823A-4F91-B142-4E81345F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A5F5B-D253-4021-BA9F-170FA378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Учебный разбор недель 4–9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09E9C-3713-43FA-B614-8C1CDEFF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Отдельные слайды, понятные команды и ожидаемые результаты.</a:t>
            </a:r>
          </a:p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README, код, данные и полная презентация 4–15.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C828B-48CD-400E-B5F6-81D68187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Перед сдачей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DEE4F-4982-410D-AA27-5B43D23F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Сверить публикацию текущей версии на GitHub.</a:t>
            </a:r>
          </a:p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Выполнить показ и ответить на вопросы преподавателя.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8204B-FB48-43BF-965B-EB3E5B7B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Граница применимости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BD1F3-152A-45FB-9020-91BD3778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Синтетическое обучение и введённые сведения. Цена, доходность и реальная безопасность не прогнозируются.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423626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2026-10-13T21:00:54.2500000Z</dcterms:created>
  <dcterms:modified xsi:type="dcterms:W3CDTF">2026-10-13T21:00:54.2500000Z</dcterms:modified>
</coreProperties>
</file>